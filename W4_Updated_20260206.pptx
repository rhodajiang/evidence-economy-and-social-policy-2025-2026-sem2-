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17"/>
  </p:notesMasterIdLst>
  <p:sldIdLst>
    <p:sldId id="270" r:id="rId2"/>
    <p:sldId id="271" r:id="rId3"/>
    <p:sldId id="275" r:id="rId4"/>
    <p:sldId id="274" r:id="rId5"/>
    <p:sldId id="272" r:id="rId6"/>
    <p:sldId id="273" r:id="rId7"/>
    <p:sldId id="256" r:id="rId8"/>
    <p:sldId id="269" r:id="rId9"/>
    <p:sldId id="267" r:id="rId10"/>
    <p:sldId id="268" r:id="rId11"/>
    <p:sldId id="266" r:id="rId12"/>
    <p:sldId id="258" r:id="rId13"/>
    <p:sldId id="265" r:id="rId14"/>
    <p:sldId id="260" r:id="rId15"/>
    <p:sldId id="26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549"/>
    <p:restoredTop sz="90078"/>
  </p:normalViewPr>
  <p:slideViewPr>
    <p:cSldViewPr snapToGrid="0">
      <p:cViewPr varScale="1">
        <p:scale>
          <a:sx n="80" d="100"/>
          <a:sy n="80" d="100"/>
        </p:scale>
        <p:origin x="200" y="5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6A6C5-97B6-FE4A-95C7-05970C33DEAA}" type="datetimeFigureOut">
              <a:rPr lang="en-US" smtClean="0"/>
              <a:t>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A4955F-0A3A-8646-A0A1-4EB5E93277E6}" type="slidenum">
              <a:rPr lang="en-US" smtClean="0"/>
              <a:t>‹#›</a:t>
            </a:fld>
            <a:endParaRPr lang="en-US"/>
          </a:p>
        </p:txBody>
      </p:sp>
    </p:spTree>
    <p:extLst>
      <p:ext uri="{BB962C8B-B14F-4D97-AF65-F5344CB8AC3E}">
        <p14:creationId xmlns:p14="http://schemas.microsoft.com/office/powerpoint/2010/main" val="1881019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1"/>
              <a:t>在实践中，我们如何区分纠正市场的干预与扭曲市场的干预？同一项政策是否有可能被合理地同时描述为两者？</a:t>
            </a:r>
            <a:endParaRPr lang="ja-JP" altLang="en-US"/>
          </a:p>
          <a:p>
            <a:r>
              <a:rPr lang="ja-JP" altLang="en-US" b="1"/>
              <a:t>比较现金转移与实物福利：在效率、精准性（定向性）以及政治支持方面，各自存在哪些经济上的权衡？</a:t>
            </a:r>
            <a:endParaRPr lang="ja-JP" altLang="en-US"/>
          </a:p>
          <a:p>
            <a:r>
              <a:rPr lang="ja-JP" altLang="en-US" b="1"/>
              <a:t>再分配是否有可能提升效率？</a:t>
            </a:r>
            <a:endParaRPr lang="ja-JP" altLang="en-US"/>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5</a:t>
            </a:fld>
            <a:endParaRPr lang="en-US"/>
          </a:p>
        </p:txBody>
      </p:sp>
    </p:spTree>
    <p:extLst>
      <p:ext uri="{BB962C8B-B14F-4D97-AF65-F5344CB8AC3E}">
        <p14:creationId xmlns:p14="http://schemas.microsoft.com/office/powerpoint/2010/main" val="4049693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F4BEC-0A26-7FAE-B601-A4A296437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E14C2-96F4-F478-111E-7A81105F4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44B69-055F-D7D6-895C-2082CE223F33}"/>
              </a:ext>
            </a:extLst>
          </p:cNvPr>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a:extLst>
              <a:ext uri="{FF2B5EF4-FFF2-40B4-BE49-F238E27FC236}">
                <a16:creationId xmlns:a16="http://schemas.microsoft.com/office/drawing/2014/main" id="{CC89F6A5-99D6-07A1-DFDD-FC1E837FCD39}"/>
              </a:ext>
            </a:extLst>
          </p:cNvPr>
          <p:cNvSpPr>
            <a:spLocks noGrp="1"/>
          </p:cNvSpPr>
          <p:nvPr>
            <p:ph type="sldNum" sz="quarter" idx="5"/>
          </p:nvPr>
        </p:nvSpPr>
        <p:spPr/>
        <p:txBody>
          <a:bodyPr/>
          <a:lstStyle/>
          <a:p>
            <a:fld id="{33A4955F-0A3A-8646-A0A1-4EB5E93277E6}" type="slidenum">
              <a:rPr lang="en-US" smtClean="0"/>
              <a:t>6</a:t>
            </a:fld>
            <a:endParaRPr lang="en-US"/>
          </a:p>
        </p:txBody>
      </p:sp>
    </p:spTree>
    <p:extLst>
      <p:ext uri="{BB962C8B-B14F-4D97-AF65-F5344CB8AC3E}">
        <p14:creationId xmlns:p14="http://schemas.microsoft.com/office/powerpoint/2010/main" val="1680969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2E4CD-D723-F1C3-800B-5CE6A8061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CA5FD-8000-2084-3F1C-8B902969A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32315-EA7F-29A0-5901-CB53C503551E}"/>
              </a:ext>
            </a:extLst>
          </p:cNvPr>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a:extLst>
              <a:ext uri="{FF2B5EF4-FFF2-40B4-BE49-F238E27FC236}">
                <a16:creationId xmlns:a16="http://schemas.microsoft.com/office/drawing/2014/main" id="{B0205D8E-9CA8-28B6-138D-8B547022CFBE}"/>
              </a:ext>
            </a:extLst>
          </p:cNvPr>
          <p:cNvSpPr>
            <a:spLocks noGrp="1"/>
          </p:cNvSpPr>
          <p:nvPr>
            <p:ph type="sldNum" sz="quarter" idx="5"/>
          </p:nvPr>
        </p:nvSpPr>
        <p:spPr/>
        <p:txBody>
          <a:bodyPr/>
          <a:lstStyle/>
          <a:p>
            <a:fld id="{33A4955F-0A3A-8646-A0A1-4EB5E93277E6}" type="slidenum">
              <a:rPr lang="en-US" smtClean="0"/>
              <a:t>10</a:t>
            </a:fld>
            <a:endParaRPr lang="en-US"/>
          </a:p>
        </p:txBody>
      </p:sp>
    </p:spTree>
    <p:extLst>
      <p:ext uri="{BB962C8B-B14F-4D97-AF65-F5344CB8AC3E}">
        <p14:creationId xmlns:p14="http://schemas.microsoft.com/office/powerpoint/2010/main" val="279472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15</a:t>
            </a:fld>
            <a:endParaRPr lang="en-US"/>
          </a:p>
        </p:txBody>
      </p:sp>
    </p:spTree>
    <p:extLst>
      <p:ext uri="{BB962C8B-B14F-4D97-AF65-F5344CB8AC3E}">
        <p14:creationId xmlns:p14="http://schemas.microsoft.com/office/powerpoint/2010/main" val="920812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2/6/26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41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2/6/26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502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2/6/26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24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2/6/26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987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2/6/26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217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2/6/26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535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2/6/26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247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2/6/26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2692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2/6/26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132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2/6/26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999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2/6/26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382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2/6/26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52618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youtube.com/watch?v=p1DviQ9mva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3CC7-4118-0333-7717-4F83FD4263F7}"/>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2E87C9C-AC66-5079-7075-8AFD147CFFF7}"/>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FA56CC3-F1AE-F701-6CC4-9E2ADA96358C}"/>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98382B71-37C4-731F-869E-03A2E95594E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49E2156A-C4F7-BCCB-9C78-B03CED275084}"/>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8E4EC26-6E5A-8117-A831-3FED7AC3A563}"/>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W4 Tutorial</a:t>
            </a:r>
          </a:p>
        </p:txBody>
      </p:sp>
    </p:spTree>
    <p:extLst>
      <p:ext uri="{BB962C8B-B14F-4D97-AF65-F5344CB8AC3E}">
        <p14:creationId xmlns:p14="http://schemas.microsoft.com/office/powerpoint/2010/main" val="1258807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EC7F3-BB43-4BDA-060D-1DF454357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6C0D4-9200-02A9-F937-0E77BC6A09E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0CF00B35-EB2E-8005-22F0-175089D0CBB9}"/>
              </a:ext>
            </a:extLst>
          </p:cNvPr>
          <p:cNvSpPr>
            <a:spLocks noGrp="1"/>
          </p:cNvSpPr>
          <p:nvPr>
            <p:ph idx="1"/>
          </p:nvPr>
        </p:nvSpPr>
        <p:spPr>
          <a:xfrm>
            <a:off x="521208" y="2082800"/>
            <a:ext cx="11155680" cy="4590716"/>
          </a:xfrm>
        </p:spPr>
        <p:txBody>
          <a:bodyPr>
            <a:normAutofit lnSpcReduction="10000"/>
          </a:bodyPr>
          <a:lstStyle/>
          <a:p>
            <a:pPr marL="0" indent="0">
              <a:buNone/>
            </a:pPr>
            <a:r>
              <a:rPr lang="en-GB" sz="2800" b="1" dirty="0"/>
              <a:t>Insightful moment:</a:t>
            </a:r>
          </a:p>
          <a:p>
            <a:pPr lvl="1"/>
            <a:r>
              <a:rPr lang="en-US" sz="2400" dirty="0"/>
              <a:t>From w2: </a:t>
            </a:r>
            <a:r>
              <a:rPr lang="en-US" sz="2400" i="1" dirty="0"/>
              <a:t>“What types of evidence do you think are most influential in economic policy debates and what are the </a:t>
            </a:r>
            <a:r>
              <a:rPr lang="en-US" sz="2400" b="1" i="1" dirty="0"/>
              <a:t>consequences</a:t>
            </a:r>
            <a:r>
              <a:rPr lang="en-US" sz="2400" i="1" dirty="0"/>
              <a:t> of that?”</a:t>
            </a:r>
          </a:p>
          <a:p>
            <a:pPr lvl="2"/>
            <a:r>
              <a:rPr lang="en-US" sz="2000" dirty="0"/>
              <a:t>Both positive and negative aspects, even other perspectives(</a:t>
            </a:r>
            <a:r>
              <a:rPr lang="en-US" sz="2000" dirty="0" err="1"/>
              <a:t>eg</a:t>
            </a:r>
            <a:r>
              <a:rPr lang="en-US" sz="2000" dirty="0"/>
              <a:t>, economic, politic, environmental, social…)</a:t>
            </a:r>
          </a:p>
          <a:p>
            <a:pPr lvl="1"/>
            <a:r>
              <a:rPr lang="en-US" sz="2200" dirty="0"/>
              <a:t>From w3: </a:t>
            </a:r>
            <a:r>
              <a:rPr lang="en-US" sz="2200" i="1" dirty="0"/>
              <a:t>“Do you think the current mainstream approach, i.e. equating market prices with value is going to be a more permanent feature or do you think value conceptions will change again?”</a:t>
            </a:r>
          </a:p>
          <a:p>
            <a:pPr lvl="2"/>
            <a:r>
              <a:rPr lang="en-GB" sz="2000" dirty="0"/>
              <a:t>A good analytical framework for developing an argument is to consider the short term and the long term: in the short term, …; in the long run, … .</a:t>
            </a:r>
          </a:p>
          <a:p>
            <a:pPr lvl="1"/>
            <a:r>
              <a:rPr lang="en-GB" sz="2200" dirty="0"/>
              <a:t>From w3: </a:t>
            </a:r>
            <a:r>
              <a:rPr lang="en-GB" sz="2200" dirty="0">
                <a:hlinkClick r:id="rId2"/>
              </a:rPr>
              <a:t>An interesting example </a:t>
            </a:r>
            <a:r>
              <a:rPr lang="en-GB" sz="2200" dirty="0"/>
              <a:t>of “When Economics Overrides </a:t>
            </a:r>
            <a:r>
              <a:rPr lang="en-GB" sz="2200"/>
              <a:t>Ethics” (framing / reframing)</a:t>
            </a:r>
            <a:endParaRPr lang="en-GB" sz="2200" dirty="0"/>
          </a:p>
          <a:p>
            <a:pPr lvl="1"/>
            <a:endParaRPr lang="en-US" sz="2800" dirty="0"/>
          </a:p>
          <a:p>
            <a:pPr lvl="1"/>
            <a:endParaRPr lang="en-US" sz="2200" dirty="0"/>
          </a:p>
        </p:txBody>
      </p:sp>
    </p:spTree>
    <p:extLst>
      <p:ext uri="{BB962C8B-B14F-4D97-AF65-F5344CB8AC3E}">
        <p14:creationId xmlns:p14="http://schemas.microsoft.com/office/powerpoint/2010/main" val="490968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F93E-1061-01D1-F586-AFD6552AA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2900A-33C9-9060-4521-2CD780D3B3B4}"/>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0D3D57AB-0F5E-3DD1-ADF5-6D5B7A31444E}"/>
              </a:ext>
            </a:extLst>
          </p:cNvPr>
          <p:cNvSpPr>
            <a:spLocks noGrp="1"/>
          </p:cNvSpPr>
          <p:nvPr>
            <p:ph idx="1"/>
          </p:nvPr>
        </p:nvSpPr>
        <p:spPr>
          <a:xfrm>
            <a:off x="521208" y="2082800"/>
            <a:ext cx="11155680" cy="4590716"/>
          </a:xfrm>
        </p:spPr>
        <p:txBody>
          <a:bodyPr>
            <a:normAutofit/>
          </a:bodyPr>
          <a:lstStyle/>
          <a:p>
            <a:pPr marL="0" indent="0">
              <a:buNone/>
            </a:pPr>
            <a:r>
              <a:rPr lang="en-GB" sz="2800" b="1" dirty="0"/>
              <a:t>Insightful moment:</a:t>
            </a:r>
          </a:p>
          <a:p>
            <a:pPr lvl="1"/>
            <a:r>
              <a:rPr lang="en-US" sz="2200" dirty="0"/>
              <a:t>From w3: the understanding of “market failure”</a:t>
            </a:r>
            <a:endParaRPr lang="en-US" sz="2800" dirty="0"/>
          </a:p>
          <a:p>
            <a:pPr marL="457200" lvl="1" indent="0">
              <a:buNone/>
            </a:pPr>
            <a:endParaRPr lang="en-US" sz="2200" dirty="0"/>
          </a:p>
        </p:txBody>
      </p:sp>
    </p:spTree>
    <p:extLst>
      <p:ext uri="{BB962C8B-B14F-4D97-AF65-F5344CB8AC3E}">
        <p14:creationId xmlns:p14="http://schemas.microsoft.com/office/powerpoint/2010/main" val="1123291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461-1FBC-52CD-D0A0-C955D03A9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120E7-93AD-C73F-8A53-2BE2998D4D1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53A4167F-FAB0-3300-5154-B3393E239A03}"/>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State Intervention and Regulation of Markets</a:t>
            </a:r>
          </a:p>
          <a:p>
            <a:pPr lvl="2"/>
            <a:r>
              <a:rPr lang="en-US" sz="2000" dirty="0"/>
              <a:t>Lecture 2: Taxes and Benefits</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1816308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D6FEE-ECE1-FD7E-838A-9BB582F4D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4A337-794C-3967-76E1-B78B1D450F96}"/>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10B62329-93C5-FBFF-2962-C980A5745CC3}"/>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How do we distinguish between market-correcting and market-distorting interventions in practice? Can the same policy plausibly be described as both?</a:t>
            </a:r>
          </a:p>
          <a:p>
            <a:r>
              <a:rPr lang="en-GB" dirty="0"/>
              <a:t>Compare cash transfers and in-kind benefits: what are the economic trade-offs in terms of efficiency, targeting, and political support</a:t>
            </a:r>
          </a:p>
          <a:p>
            <a:r>
              <a:rPr lang="en-GB" dirty="0"/>
              <a:t>Can redistribution ever be efficiency-enhancing?</a:t>
            </a:r>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2563570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F0FF-1E4F-657D-9653-F7A4C6F3F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7AA8E-4DA4-C241-87D3-1D4575141C64}"/>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F7830C6F-F436-35BE-5C06-A335C03F6E6B}"/>
              </a:ext>
            </a:extLst>
          </p:cNvPr>
          <p:cNvSpPr>
            <a:spLocks noGrp="1"/>
          </p:cNvSpPr>
          <p:nvPr>
            <p:ph idx="1"/>
          </p:nvPr>
        </p:nvSpPr>
        <p:spPr>
          <a:xfrm>
            <a:off x="521208" y="2082800"/>
            <a:ext cx="11155680" cy="4263136"/>
          </a:xfrm>
        </p:spPr>
        <p:txBody>
          <a:bodyPr>
            <a:normAutofit/>
          </a:bodyPr>
          <a:lstStyle/>
          <a:p>
            <a:pPr lvl="0"/>
            <a:r>
              <a:rPr lang="en-GB" sz="2400" dirty="0"/>
              <a:t>The blind spots of “big system”: </a:t>
            </a:r>
            <a:r>
              <a:rPr lang="en-US" dirty="0"/>
              <a:t>(Davies, 2024: p76)</a:t>
            </a:r>
            <a:r>
              <a:rPr lang="en-GB" sz="2400" dirty="0"/>
              <a:t> </a:t>
            </a:r>
          </a:p>
          <a:p>
            <a:pPr lvl="1"/>
            <a:r>
              <a:rPr lang="en-GB" sz="2200" dirty="0"/>
              <a:t>the belief in markets as computing fabric, </a:t>
            </a:r>
          </a:p>
          <a:p>
            <a:pPr lvl="1"/>
            <a:r>
              <a:rPr lang="en-GB" sz="2200" dirty="0"/>
              <a:t>the flattening of time and uncertainty and </a:t>
            </a:r>
          </a:p>
          <a:p>
            <a:pPr lvl="1"/>
            <a:r>
              <a:rPr lang="en-GB" sz="2200" dirty="0"/>
              <a:t>the commitment to </a:t>
            </a:r>
            <a:r>
              <a:rPr lang="en-GB" sz="2200" dirty="0" err="1"/>
              <a:t>Ricardianism</a:t>
            </a:r>
            <a:r>
              <a:rPr lang="en-GB" sz="2200" dirty="0"/>
              <a:t>.</a:t>
            </a:r>
            <a:endParaRPr lang="en-US" sz="2200" dirty="0"/>
          </a:p>
        </p:txBody>
      </p:sp>
    </p:spTree>
    <p:extLst>
      <p:ext uri="{BB962C8B-B14F-4D97-AF65-F5344CB8AC3E}">
        <p14:creationId xmlns:p14="http://schemas.microsoft.com/office/powerpoint/2010/main" val="2038284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op view of a background splashed with colors">
            <a:extLst>
              <a:ext uri="{FF2B5EF4-FFF2-40B4-BE49-F238E27FC236}">
                <a16:creationId xmlns:a16="http://schemas.microsoft.com/office/drawing/2014/main" id="{93895ED1-BD46-9B4D-16DE-3DAF16A996D1}"/>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44A27D1-220F-D30D-363A-4C8E949DEECA}"/>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D718E533-6961-34CC-C16B-5EE208B82E7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F9C16D7-1684-F5F9-915C-09A6A00BCFC3}"/>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solidFill>
                  <a:schemeClr val="bg1"/>
                </a:solidFill>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562CA603-5795-9C2F-AB97-54FAA5FF303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W3 Tutorial</a:t>
            </a:r>
          </a:p>
        </p:txBody>
      </p:sp>
    </p:spTree>
    <p:extLst>
      <p:ext uri="{BB962C8B-B14F-4D97-AF65-F5344CB8AC3E}">
        <p14:creationId xmlns:p14="http://schemas.microsoft.com/office/powerpoint/2010/main" val="1290530856"/>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A2C8D-80CD-5729-63B3-1B3ABA8D7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B9969-FC48-D6C6-E50B-031A48DE1402}"/>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86470371-87A4-8D04-C8B0-B7421056F4CF}"/>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Markets and utility: a straight-forward story?</a:t>
            </a:r>
          </a:p>
          <a:p>
            <a:pPr lvl="2"/>
            <a:r>
              <a:rPr lang="en-US" sz="2000" dirty="0"/>
              <a:t>Lecture 2: Is it all in the price? Questions about economic value</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2950336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014B9-ED10-AE2A-2D99-EA240F6E6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EDDE6-68E4-DD99-4D58-108BCF2DAA8F}"/>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E9FFDCBE-349A-9E98-20CE-C94787DEC30C}"/>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The dominant way in which economic value is conceptualised has changed many times historically. Do you think the current mainstream approach, i.e. equating market prices with value is going to be a more permanent feature or do you think value conceptions will change again? What might drive that change and in what direction?</a:t>
            </a:r>
          </a:p>
          <a:p>
            <a:r>
              <a:rPr lang="en-GB" dirty="0"/>
              <a:t>We know that people don't regularly behave as classic economic theories postulate. But when we do not rely on assumptions about economic behaviour, modelling market interactions becomes very complicated, as we need to expand the scope of evidence we use greatly. In what circumstances may it be useful and sufficient as a policy maker to rely on stronger assumptions about economic behaviour? How should we go about such uses though?</a:t>
            </a:r>
          </a:p>
          <a:p>
            <a:r>
              <a:rPr lang="en-GB" dirty="0"/>
              <a:t>News stories or piece of evidence</a:t>
            </a:r>
          </a:p>
        </p:txBody>
      </p:sp>
    </p:spTree>
    <p:extLst>
      <p:ext uri="{BB962C8B-B14F-4D97-AF65-F5344CB8AC3E}">
        <p14:creationId xmlns:p14="http://schemas.microsoft.com/office/powerpoint/2010/main" val="3518453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51C8A-4BF0-1A60-CC2C-30509A5DC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5052D-8CF3-155C-0685-3D82D9C69306}"/>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9AA05D3C-6672-082F-D025-7384CF6A6D5D}"/>
              </a:ext>
            </a:extLst>
          </p:cNvPr>
          <p:cNvSpPr>
            <a:spLocks noGrp="1"/>
          </p:cNvSpPr>
          <p:nvPr>
            <p:ph idx="1"/>
          </p:nvPr>
        </p:nvSpPr>
        <p:spPr>
          <a:xfrm>
            <a:off x="521208" y="2082800"/>
            <a:ext cx="11155680" cy="4263136"/>
          </a:xfrm>
        </p:spPr>
        <p:txBody>
          <a:bodyPr>
            <a:normAutofit/>
          </a:bodyPr>
          <a:lstStyle/>
          <a:p>
            <a:pPr lvl="0"/>
            <a:r>
              <a:rPr lang="en-GB" sz="2400" dirty="0"/>
              <a:t>The blind spots of “big system”: </a:t>
            </a:r>
            <a:r>
              <a:rPr lang="en-US" dirty="0"/>
              <a:t>(Davies, 2024: p76)</a:t>
            </a:r>
            <a:r>
              <a:rPr lang="en-GB" sz="2400" dirty="0"/>
              <a:t> </a:t>
            </a:r>
          </a:p>
          <a:p>
            <a:pPr lvl="1"/>
            <a:r>
              <a:rPr lang="en-GB" sz="2200" dirty="0"/>
              <a:t>the belief in markets as computing fabric, </a:t>
            </a:r>
          </a:p>
          <a:p>
            <a:pPr lvl="1"/>
            <a:r>
              <a:rPr lang="en-GB" sz="2200" dirty="0"/>
              <a:t>the flattening of time and uncertainty and </a:t>
            </a:r>
          </a:p>
          <a:p>
            <a:pPr lvl="1"/>
            <a:r>
              <a:rPr lang="en-GB" sz="2200" dirty="0"/>
              <a:t>the commitment to </a:t>
            </a:r>
            <a:r>
              <a:rPr lang="en-GB" sz="2200" dirty="0" err="1"/>
              <a:t>Ricardianism</a:t>
            </a:r>
            <a:r>
              <a:rPr lang="en-GB" sz="2200" dirty="0"/>
              <a:t>.</a:t>
            </a:r>
            <a:endParaRPr lang="en-US" sz="2200" dirty="0"/>
          </a:p>
        </p:txBody>
      </p:sp>
    </p:spTree>
    <p:extLst>
      <p:ext uri="{BB962C8B-B14F-4D97-AF65-F5344CB8AC3E}">
        <p14:creationId xmlns:p14="http://schemas.microsoft.com/office/powerpoint/2010/main" val="902317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F167E-5ABB-200A-EEAC-277738F66CE4}"/>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096300A1-AC70-8C2A-8203-2315197F4AC9}"/>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A417C17-FDB0-D3B6-BD46-9C2357A392A8}"/>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EDA76978-24B5-FC01-8FAA-5C5441E904E4}"/>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229C44E9-DF88-95D8-C232-793A870D42D9}"/>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C59A893D-15CE-2392-E4F4-089B08BACA7F}"/>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W2 Tutorial</a:t>
            </a:r>
          </a:p>
        </p:txBody>
      </p:sp>
    </p:spTree>
    <p:extLst>
      <p:ext uri="{BB962C8B-B14F-4D97-AF65-F5344CB8AC3E}">
        <p14:creationId xmlns:p14="http://schemas.microsoft.com/office/powerpoint/2010/main" val="1036481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126807-1D8E-D373-18A6-F5D650BE79A9}"/>
              </a:ext>
            </a:extLst>
          </p:cNvPr>
          <p:cNvSpPr>
            <a:spLocks noGrp="1"/>
          </p:cNvSpPr>
          <p:nvPr>
            <p:ph type="title"/>
          </p:nvPr>
        </p:nvSpPr>
        <p:spPr>
          <a:xfrm>
            <a:off x="521208" y="978408"/>
            <a:ext cx="11155680" cy="1115568"/>
          </a:xfrm>
        </p:spPr>
        <p:txBody>
          <a:bodyPr>
            <a:normAutofit fontScale="90000"/>
          </a:bodyPr>
          <a:lstStyle/>
          <a:p>
            <a:pPr>
              <a:lnSpc>
                <a:spcPct val="90000"/>
              </a:lnSpc>
            </a:pPr>
            <a:r>
              <a:rPr lang="en-GB" sz="3700" dirty="0"/>
              <a:t>Icebreaker Activity: Name &amp; Favourite Thing</a:t>
            </a:r>
            <a:r>
              <a:rPr lang="en-US" sz="3700" dirty="0"/>
              <a:t> (8-10min)</a:t>
            </a:r>
          </a:p>
        </p:txBody>
      </p:sp>
      <p:sp>
        <p:nvSpPr>
          <p:cNvPr id="17" name="Freeform: Shape 16">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A group of people sitting around a table&#10;&#10;AI-generated content may be incorrect.">
            <a:extLst>
              <a:ext uri="{FF2B5EF4-FFF2-40B4-BE49-F238E27FC236}">
                <a16:creationId xmlns:a16="http://schemas.microsoft.com/office/drawing/2014/main" id="{62138F79-1912-4A47-F7F5-72F0FC1AB5A4}"/>
              </a:ext>
            </a:extLst>
          </p:cNvPr>
          <p:cNvPicPr>
            <a:picLocks noChangeAspect="1"/>
          </p:cNvPicPr>
          <p:nvPr/>
        </p:nvPicPr>
        <p:blipFill>
          <a:blip r:embed="rId2"/>
          <a:srcRect r="8031" b="-1"/>
          <a:stretch>
            <a:fillRect/>
          </a:stretch>
        </p:blipFill>
        <p:spPr>
          <a:xfrm>
            <a:off x="731621" y="1919381"/>
            <a:ext cx="5578133" cy="4048568"/>
          </a:xfrm>
          <a:prstGeom prst="rect">
            <a:avLst/>
          </a:prstGeom>
        </p:spPr>
      </p:pic>
      <p:sp>
        <p:nvSpPr>
          <p:cNvPr id="5" name="Rectangle 1">
            <a:extLst>
              <a:ext uri="{FF2B5EF4-FFF2-40B4-BE49-F238E27FC236}">
                <a16:creationId xmlns:a16="http://schemas.microsoft.com/office/drawing/2014/main" id="{0235AF50-E1AB-52AA-0716-7A909DA93945}"/>
              </a:ext>
            </a:extLst>
          </p:cNvPr>
          <p:cNvSpPr>
            <a:spLocks noGrp="1" noChangeArrowheads="1"/>
          </p:cNvSpPr>
          <p:nvPr>
            <p:ph idx="1"/>
          </p:nvPr>
        </p:nvSpPr>
        <p:spPr bwMode="auto">
          <a:xfrm>
            <a:off x="6510528" y="2304288"/>
            <a:ext cx="5157216" cy="40507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first person says their name and one thing they like.</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second person repeats the first person's name and their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third person repeats the second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Continue this pattern, with each person repeating the previous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adding their own.</a:t>
            </a:r>
          </a:p>
        </p:txBody>
      </p:sp>
    </p:spTree>
    <p:extLst>
      <p:ext uri="{BB962C8B-B14F-4D97-AF65-F5344CB8AC3E}">
        <p14:creationId xmlns:p14="http://schemas.microsoft.com/office/powerpoint/2010/main" val="3603650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49AB-B75F-9A89-914C-44BAA4C8D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F5FF9-2286-8443-832A-B3E848DCFDE8}"/>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CA94D94E-085C-5B36-8A6D-ACCC7EFFA158}"/>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Evidence, Economy, and Social Policy: an introduction to the course</a:t>
            </a:r>
          </a:p>
          <a:p>
            <a:pPr lvl="2"/>
            <a:r>
              <a:rPr lang="en-US" sz="2000" dirty="0"/>
              <a:t>Lecture 2 - “Left” vs “Right” social policy? Why economic analyses are much more complex</a:t>
            </a:r>
          </a:p>
          <a:p>
            <a:pPr lvl="1"/>
            <a:r>
              <a:rPr lang="en-US" sz="2400" dirty="0"/>
              <a:t>What points stood out?</a:t>
            </a:r>
          </a:p>
        </p:txBody>
      </p:sp>
    </p:spTree>
    <p:extLst>
      <p:ext uri="{BB962C8B-B14F-4D97-AF65-F5344CB8AC3E}">
        <p14:creationId xmlns:p14="http://schemas.microsoft.com/office/powerpoint/2010/main" val="4197483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E178-4D0C-18BE-025C-95BAC3B6E568}"/>
              </a:ext>
            </a:extLst>
          </p:cNvPr>
          <p:cNvSpPr>
            <a:spLocks noGrp="1"/>
          </p:cNvSpPr>
          <p:nvPr>
            <p:ph type="title"/>
          </p:nvPr>
        </p:nvSpPr>
        <p:spPr/>
        <p:txBody>
          <a:bodyPr/>
          <a:lstStyle/>
          <a:p>
            <a:r>
              <a:rPr lang="en-US" dirty="0"/>
              <a:t>Activity (20-25min)</a:t>
            </a:r>
          </a:p>
        </p:txBody>
      </p:sp>
      <p:sp>
        <p:nvSpPr>
          <p:cNvPr id="3" name="Content Placeholder 2">
            <a:extLst>
              <a:ext uri="{FF2B5EF4-FFF2-40B4-BE49-F238E27FC236}">
                <a16:creationId xmlns:a16="http://schemas.microsoft.com/office/drawing/2014/main" id="{C6CFD31F-5A20-4EB2-00B5-6AFC869B854B}"/>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a:t>
            </a:r>
          </a:p>
          <a:p>
            <a:r>
              <a:rPr lang="en-GB" sz="2400" dirty="0"/>
              <a:t>To what extent do you agree with Mirowski's argument that a neoliberal state is one that uses strong actions to shape the economy?</a:t>
            </a:r>
          </a:p>
          <a:p>
            <a:r>
              <a:rPr lang="en-GB" sz="2400" dirty="0"/>
              <a:t>To what extent do you think economic policy-making is based on evidence?</a:t>
            </a:r>
          </a:p>
          <a:p>
            <a:r>
              <a:rPr lang="en-GB" sz="2400" dirty="0"/>
              <a:t>What types of evidence do you think are most influential in economic policy debates and what are the consequences of that?</a:t>
            </a:r>
          </a:p>
          <a:p>
            <a:r>
              <a:rPr lang="en-GB" sz="2400" dirty="0"/>
              <a:t>For question 3, it might be useful to think of a current or recent example from the news to illustrate your argument.</a:t>
            </a:r>
          </a:p>
        </p:txBody>
      </p:sp>
    </p:spTree>
    <p:extLst>
      <p:ext uri="{BB962C8B-B14F-4D97-AF65-F5344CB8AC3E}">
        <p14:creationId xmlns:p14="http://schemas.microsoft.com/office/powerpoint/2010/main" val="145969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39B17-D57C-967D-A67F-EB0A8BE29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C459F-5755-22CA-D220-6C0F6171A397}"/>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B3A2C6BC-DC49-560F-7846-6F139E65E0B8}"/>
              </a:ext>
            </a:extLst>
          </p:cNvPr>
          <p:cNvSpPr>
            <a:spLocks noGrp="1"/>
          </p:cNvSpPr>
          <p:nvPr>
            <p:ph idx="1"/>
          </p:nvPr>
        </p:nvSpPr>
        <p:spPr>
          <a:xfrm>
            <a:off x="521208" y="2082800"/>
            <a:ext cx="11155680" cy="4263136"/>
          </a:xfrm>
        </p:spPr>
        <p:txBody>
          <a:bodyPr>
            <a:normAutofit/>
          </a:bodyPr>
          <a:lstStyle/>
          <a:p>
            <a:pPr lvl="0"/>
            <a:r>
              <a:rPr lang="en-US" sz="2400" dirty="0">
                <a:solidFill>
                  <a:schemeClr val="tx1">
                    <a:lumMod val="50000"/>
                    <a:lumOff val="50000"/>
                  </a:schemeClr>
                </a:solidFill>
              </a:rPr>
              <a:t>(Lukas) </a:t>
            </a:r>
            <a:r>
              <a:rPr lang="en-US" sz="2400" dirty="0"/>
              <a:t>Your job in this course: make claims precise, interrogate evidence, and argue transparently.</a:t>
            </a:r>
          </a:p>
          <a:p>
            <a:pPr lvl="0"/>
            <a:r>
              <a:rPr lang="en-GB" sz="2400" dirty="0"/>
              <a:t>Understanding “</a:t>
            </a:r>
            <a:r>
              <a:rPr lang="en-GB" sz="2400" i="1" dirty="0">
                <a:solidFill>
                  <a:srgbClr val="FF0000"/>
                </a:solidFill>
              </a:rPr>
              <a:t>capitalism</a:t>
            </a:r>
            <a:r>
              <a:rPr lang="en-GB" sz="2400" dirty="0"/>
              <a:t>” and “</a:t>
            </a:r>
            <a:r>
              <a:rPr lang="en-GB" sz="2400" i="1" dirty="0">
                <a:solidFill>
                  <a:srgbClr val="FF0000"/>
                </a:solidFill>
              </a:rPr>
              <a:t>neoliberalism</a:t>
            </a:r>
            <a:r>
              <a:rPr lang="en-GB" sz="2400" dirty="0"/>
              <a:t>”</a:t>
            </a:r>
          </a:p>
          <a:p>
            <a:pPr marL="457200" lvl="1" indent="0">
              <a:buNone/>
            </a:pPr>
            <a:endParaRPr lang="en-US" sz="2400" dirty="0"/>
          </a:p>
        </p:txBody>
      </p:sp>
    </p:spTree>
    <p:extLst>
      <p:ext uri="{BB962C8B-B14F-4D97-AF65-F5344CB8AC3E}">
        <p14:creationId xmlns:p14="http://schemas.microsoft.com/office/powerpoint/2010/main" val="28686692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1505</TotalTime>
  <Words>1064</Words>
  <Application>Microsoft Macintosh PowerPoint</Application>
  <PresentationFormat>Widescreen</PresentationFormat>
  <Paragraphs>87</Paragraphs>
  <Slides>15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Bierstadt</vt:lpstr>
      <vt:lpstr>Bradley Hand</vt:lpstr>
      <vt:lpstr>GestaltVTI</vt:lpstr>
      <vt:lpstr>https://github.com/RhodaJiang/Evidence-Economy-and-Social-Policy-2025-2026-SEM2-</vt:lpstr>
      <vt:lpstr>Recap (10-15min)</vt:lpstr>
      <vt:lpstr>Recap (10-15min)</vt:lpstr>
      <vt:lpstr>Recap (10-15min)</vt:lpstr>
      <vt:lpstr>Activity(35-40min) </vt:lpstr>
      <vt:lpstr>Wrap-up</vt:lpstr>
      <vt:lpstr>https://github.com/RhodaJiang/Evidence-Economy-and-Social-Policy-2025-2026-SEM2-</vt:lpstr>
      <vt:lpstr>Recap (~10min)</vt:lpstr>
      <vt:lpstr>Activity(35-40min) </vt:lpstr>
      <vt:lpstr>Wrap-up</vt:lpstr>
      <vt:lpstr>https://github.com/RhodaJiang/Evidence-Economy-and-Social-Policy-2025-2026-SEM2-</vt:lpstr>
      <vt:lpstr>Icebreaker Activity: Name &amp; Favourite Thing (8-10min)</vt:lpstr>
      <vt:lpstr>Recap (10min)</vt:lpstr>
      <vt:lpstr>Activity (20-25min)</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Rhoda Jiang</dc:creator>
  <cp:lastModifiedBy>Rhoda Jiang</cp:lastModifiedBy>
  <cp:revision>15</cp:revision>
  <dcterms:created xsi:type="dcterms:W3CDTF">2025-09-20T14:48:19Z</dcterms:created>
  <dcterms:modified xsi:type="dcterms:W3CDTF">2026-02-06T06:54:34Z</dcterms:modified>
</cp:coreProperties>
</file>