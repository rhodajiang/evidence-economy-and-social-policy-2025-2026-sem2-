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6"/>
  </p:notesMasterIdLst>
  <p:sldIdLst>
    <p:sldId id="283" r:id="rId2"/>
    <p:sldId id="284" r:id="rId3"/>
    <p:sldId id="285" r:id="rId4"/>
    <p:sldId id="286" r:id="rId5"/>
    <p:sldId id="276" r:id="rId6"/>
    <p:sldId id="279" r:id="rId7"/>
    <p:sldId id="280" r:id="rId8"/>
    <p:sldId id="281" r:id="rId9"/>
    <p:sldId id="282" r:id="rId10"/>
    <p:sldId id="270" r:id="rId11"/>
    <p:sldId id="271" r:id="rId12"/>
    <p:sldId id="275" r:id="rId13"/>
    <p:sldId id="274" r:id="rId14"/>
    <p:sldId id="272" r:id="rId15"/>
    <p:sldId id="273" r:id="rId16"/>
    <p:sldId id="256" r:id="rId17"/>
    <p:sldId id="269" r:id="rId18"/>
    <p:sldId id="267" r:id="rId19"/>
    <p:sldId id="268" r:id="rId20"/>
    <p:sldId id="266" r:id="rId21"/>
    <p:sldId id="258" r:id="rId22"/>
    <p:sldId id="265" r:id="rId23"/>
    <p:sldId id="260" r:id="rId24"/>
    <p:sldId id="26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658"/>
    <p:restoredTop sz="90061"/>
  </p:normalViewPr>
  <p:slideViewPr>
    <p:cSldViewPr snapToGrid="0">
      <p:cViewPr varScale="1">
        <p:scale>
          <a:sx n="94" d="100"/>
          <a:sy n="94" d="100"/>
        </p:scale>
        <p:origin x="216"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2/25/26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E5A3A-DE7B-AAF5-2907-0D0E63822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46076-85E7-3990-97F5-BB1F23D9E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00752-7FCE-0EC4-375B-68E52EA3EF79}"/>
              </a:ext>
            </a:extLst>
          </p:cNvPr>
          <p:cNvSpPr>
            <a:spLocks noGrp="1"/>
          </p:cNvSpPr>
          <p:nvPr>
            <p:ph type="body" idx="1"/>
          </p:nvPr>
        </p:nvSpPr>
        <p:spPr/>
        <p:txBody>
          <a:bodyPr/>
          <a:lstStyle/>
          <a:p>
            <a:r>
              <a:rPr lang="en-US" dirty="0"/>
              <a:t>&lt;</a:t>
            </a:r>
            <a:r>
              <a:rPr lang="en-GB" dirty="0"/>
              <a:t>Reproduction in Education, Society and Culture&gt;</a:t>
            </a:r>
            <a:endParaRPr lang="en-US" dirty="0"/>
          </a:p>
        </p:txBody>
      </p:sp>
      <p:sp>
        <p:nvSpPr>
          <p:cNvPr id="4" name="Slide Number Placeholder 3">
            <a:extLst>
              <a:ext uri="{FF2B5EF4-FFF2-40B4-BE49-F238E27FC236}">
                <a16:creationId xmlns:a16="http://schemas.microsoft.com/office/drawing/2014/main" id="{8FBA9EE4-2C42-33FE-7927-10D1DE247B5D}"/>
              </a:ext>
            </a:extLst>
          </p:cNvPr>
          <p:cNvSpPr>
            <a:spLocks noGrp="1"/>
          </p:cNvSpPr>
          <p:nvPr>
            <p:ph type="sldNum" sz="quarter" idx="5"/>
          </p:nvPr>
        </p:nvSpPr>
        <p:spPr/>
        <p:txBody>
          <a:bodyPr/>
          <a:lstStyle/>
          <a:p>
            <a:fld id="{33A4955F-0A3A-8646-A0A1-4EB5E93277E6}" type="slidenum">
              <a:rPr lang="en-US" smtClean="0"/>
              <a:t>3</a:t>
            </a:fld>
            <a:endParaRPr lang="en-US"/>
          </a:p>
        </p:txBody>
      </p:sp>
    </p:spTree>
    <p:extLst>
      <p:ext uri="{BB962C8B-B14F-4D97-AF65-F5344CB8AC3E}">
        <p14:creationId xmlns:p14="http://schemas.microsoft.com/office/powerpoint/2010/main" val="217740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8D044-CF8A-7853-289E-FC7B58875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80342-1C4E-C534-62CA-B0E6FD7D6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E6F99-33C3-7042-9BF4-413A77382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4CC95-6185-7DEE-7E6E-AAF579EC0F58}"/>
              </a:ext>
            </a:extLst>
          </p:cNvPr>
          <p:cNvSpPr>
            <a:spLocks noGrp="1"/>
          </p:cNvSpPr>
          <p:nvPr>
            <p:ph type="sldNum" sz="quarter" idx="5"/>
          </p:nvPr>
        </p:nvSpPr>
        <p:spPr/>
        <p:txBody>
          <a:bodyPr/>
          <a:lstStyle/>
          <a:p>
            <a:fld id="{33A4955F-0A3A-8646-A0A1-4EB5E93277E6}" type="slidenum">
              <a:rPr lang="en-US" smtClean="0"/>
              <a:t>4</a:t>
            </a:fld>
            <a:endParaRPr lang="en-US"/>
          </a:p>
        </p:txBody>
      </p:sp>
    </p:spTree>
    <p:extLst>
      <p:ext uri="{BB962C8B-B14F-4D97-AF65-F5344CB8AC3E}">
        <p14:creationId xmlns:p14="http://schemas.microsoft.com/office/powerpoint/2010/main" val="1000302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A9735-82F0-B08E-C0DA-389F0B525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8B5-462B-AC35-A0FF-027A173E5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D659F-C273-117F-2A28-E770B38EBE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25D63E-AC4D-A525-F6AE-8472A261943C}"/>
              </a:ext>
            </a:extLst>
          </p:cNvPr>
          <p:cNvSpPr>
            <a:spLocks noGrp="1"/>
          </p:cNvSpPr>
          <p:nvPr>
            <p:ph type="sldNum" sz="quarter" idx="5"/>
          </p:nvPr>
        </p:nvSpPr>
        <p:spPr/>
        <p:txBody>
          <a:bodyPr/>
          <a:lstStyle/>
          <a:p>
            <a:fld id="{33A4955F-0A3A-8646-A0A1-4EB5E93277E6}" type="slidenum">
              <a:rPr lang="en-US" smtClean="0"/>
              <a:t>7</a:t>
            </a:fld>
            <a:endParaRPr lang="en-US"/>
          </a:p>
        </p:txBody>
      </p:sp>
    </p:spTree>
    <p:extLst>
      <p:ext uri="{BB962C8B-B14F-4D97-AF65-F5344CB8AC3E}">
        <p14:creationId xmlns:p14="http://schemas.microsoft.com/office/powerpoint/2010/main" val="3322404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203E-42EB-B2D4-632F-D1C496DEB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5337E-AFC8-325E-B4E6-4212EF7FF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D1347-45E2-0760-B13E-F4C88E8A6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320F4-E0D4-DC80-AE8C-B7A6F04FCFB0}"/>
              </a:ext>
            </a:extLst>
          </p:cNvPr>
          <p:cNvSpPr>
            <a:spLocks noGrp="1"/>
          </p:cNvSpPr>
          <p:nvPr>
            <p:ph type="sldNum" sz="quarter" idx="5"/>
          </p:nvPr>
        </p:nvSpPr>
        <p:spPr/>
        <p:txBody>
          <a:bodyPr/>
          <a:lstStyle/>
          <a:p>
            <a:fld id="{33A4955F-0A3A-8646-A0A1-4EB5E93277E6}" type="slidenum">
              <a:rPr lang="en-US" smtClean="0"/>
              <a:t>8</a:t>
            </a:fld>
            <a:endParaRPr lang="en-US"/>
          </a:p>
        </p:txBody>
      </p:sp>
    </p:spTree>
    <p:extLst>
      <p:ext uri="{BB962C8B-B14F-4D97-AF65-F5344CB8AC3E}">
        <p14:creationId xmlns:p14="http://schemas.microsoft.com/office/powerpoint/2010/main" val="3421583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B9AE6-A3EE-C677-030A-55A5DED56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E8F7C-B37E-607A-0B68-A736384EB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9526C-FBF6-CD8E-0B94-6150796F10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11045-FDD2-C2B2-303B-68DE0D551B14}"/>
              </a:ext>
            </a:extLst>
          </p:cNvPr>
          <p:cNvSpPr>
            <a:spLocks noGrp="1"/>
          </p:cNvSpPr>
          <p:nvPr>
            <p:ph type="sldNum" sz="quarter" idx="5"/>
          </p:nvPr>
        </p:nvSpPr>
        <p:spPr/>
        <p:txBody>
          <a:bodyPr/>
          <a:lstStyle/>
          <a:p>
            <a:fld id="{33A4955F-0A3A-8646-A0A1-4EB5E93277E6}" type="slidenum">
              <a:rPr lang="en-US" smtClean="0"/>
              <a:t>9</a:t>
            </a:fld>
            <a:endParaRPr lang="en-US"/>
          </a:p>
        </p:txBody>
      </p:sp>
    </p:spTree>
    <p:extLst>
      <p:ext uri="{BB962C8B-B14F-4D97-AF65-F5344CB8AC3E}">
        <p14:creationId xmlns:p14="http://schemas.microsoft.com/office/powerpoint/2010/main" val="2343773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1"/>
              <a:t>在实践中，我们如何区分纠正市场的干预与扭曲市场的干预？同一项政策是否有可能被合理地同时描述为两者？</a:t>
            </a:r>
            <a:endParaRPr lang="ja-JP" altLang="en-US"/>
          </a:p>
          <a:p>
            <a:r>
              <a:rPr lang="ja-JP" altLang="en-US" b="1"/>
              <a:t>比较现金转移与实物福利：在效率、精准性（定向性）以及政治支持方面，各自存在哪些经济上的权衡？</a:t>
            </a:r>
            <a:endParaRPr lang="ja-JP" altLang="en-US"/>
          </a:p>
          <a:p>
            <a:r>
              <a:rPr lang="ja-JP" altLang="en-US" b="1"/>
              <a:t>再分配是否有可能提升效率？</a:t>
            </a:r>
            <a:endParaRPr lang="ja-JP" altLang="en-US"/>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14</a:t>
            </a:fld>
            <a:endParaRPr lang="en-US"/>
          </a:p>
        </p:txBody>
      </p:sp>
    </p:spTree>
    <p:extLst>
      <p:ext uri="{BB962C8B-B14F-4D97-AF65-F5344CB8AC3E}">
        <p14:creationId xmlns:p14="http://schemas.microsoft.com/office/powerpoint/2010/main" val="4049693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4BEC-0A26-7FAE-B601-A4A296437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E14C2-96F4-F478-111E-7A81105F4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44B69-055F-D7D6-895C-2082CE223F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89F6A5-99D6-07A1-DFDD-FC1E837FCD39}"/>
              </a:ext>
            </a:extLst>
          </p:cNvPr>
          <p:cNvSpPr>
            <a:spLocks noGrp="1"/>
          </p:cNvSpPr>
          <p:nvPr>
            <p:ph type="sldNum" sz="quarter" idx="5"/>
          </p:nvPr>
        </p:nvSpPr>
        <p:spPr/>
        <p:txBody>
          <a:bodyPr/>
          <a:lstStyle/>
          <a:p>
            <a:fld id="{33A4955F-0A3A-8646-A0A1-4EB5E93277E6}" type="slidenum">
              <a:rPr lang="en-US" smtClean="0"/>
              <a:t>15</a:t>
            </a:fld>
            <a:endParaRPr lang="en-US"/>
          </a:p>
        </p:txBody>
      </p:sp>
    </p:spTree>
    <p:extLst>
      <p:ext uri="{BB962C8B-B14F-4D97-AF65-F5344CB8AC3E}">
        <p14:creationId xmlns:p14="http://schemas.microsoft.com/office/powerpoint/2010/main" val="1680969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E4CD-D723-F1C3-800B-5CE6A806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A5FD-8000-2084-3F1C-8B902969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2315-EA7F-29A0-5901-CB53C503551E}"/>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B0205D8E-9CA8-28B6-138D-8B547022CFBE}"/>
              </a:ext>
            </a:extLst>
          </p:cNvPr>
          <p:cNvSpPr>
            <a:spLocks noGrp="1"/>
          </p:cNvSpPr>
          <p:nvPr>
            <p:ph type="sldNum" sz="quarter" idx="5"/>
          </p:nvPr>
        </p:nvSpPr>
        <p:spPr/>
        <p:txBody>
          <a:bodyPr/>
          <a:lstStyle/>
          <a:p>
            <a:fld id="{33A4955F-0A3A-8646-A0A1-4EB5E93277E6}" type="slidenum">
              <a:rPr lang="en-US" smtClean="0"/>
              <a:t>19</a:t>
            </a:fld>
            <a:endParaRPr lang="en-US"/>
          </a:p>
        </p:txBody>
      </p:sp>
    </p:spTree>
    <p:extLst>
      <p:ext uri="{BB962C8B-B14F-4D97-AF65-F5344CB8AC3E}">
        <p14:creationId xmlns:p14="http://schemas.microsoft.com/office/powerpoint/2010/main" val="279472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24</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2/25/26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2/25/26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p1DviQ9mva0"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09A3C-4E32-F4DD-B4EF-3E46BF380B5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85C6F3B-AD50-4410-284D-34D4B35C78D2}"/>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72F53B4-68FF-CFC3-B085-BD6F2D6BD11F}"/>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639ACF6D-6F45-0D09-FABE-F9E1675CDC5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9054BB3F-FB3C-09E9-16BC-6587BDFF4C06}"/>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45DB6D07-E713-F87E-F0D3-6C284D46D19D}"/>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W6 Tutorial</a:t>
            </a:r>
          </a:p>
        </p:txBody>
      </p:sp>
    </p:spTree>
    <p:extLst>
      <p:ext uri="{BB962C8B-B14F-4D97-AF65-F5344CB8AC3E}">
        <p14:creationId xmlns:p14="http://schemas.microsoft.com/office/powerpoint/2010/main" val="629286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107C7-21A2-6BC3-AECA-F4690FE62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B66BF-7E77-64AC-6FC1-630750F62EB3}"/>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26CEF01A-6026-8356-1321-DBECA3350F6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Poverty, inequality, and social programs to address them</a:t>
            </a:r>
          </a:p>
          <a:p>
            <a:pPr lvl="2"/>
            <a:r>
              <a:rPr lang="en-US" sz="2000" dirty="0"/>
              <a:t>Lecture 2: Does Inequality Matter? How people perceive economic disparities and redistribution. With Michael Förster, previously Senior Economist at the OECD where he led the </a:t>
            </a:r>
            <a:r>
              <a:rPr lang="en-US" sz="2000" dirty="0" err="1"/>
              <a:t>organisation's</a:t>
            </a:r>
            <a:r>
              <a:rPr lang="en-US" sz="2000" dirty="0"/>
              <a:t> inequality work for many years.</a:t>
            </a:r>
          </a:p>
          <a:p>
            <a:pPr lvl="1"/>
            <a:r>
              <a:rPr lang="en-US" sz="2600" dirty="0"/>
              <a:t>What points stood out?</a:t>
            </a:r>
          </a:p>
        </p:txBody>
      </p:sp>
    </p:spTree>
    <p:extLst>
      <p:ext uri="{BB962C8B-B14F-4D97-AF65-F5344CB8AC3E}">
        <p14:creationId xmlns:p14="http://schemas.microsoft.com/office/powerpoint/2010/main" val="2762300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7454-E63B-1C54-7725-5E52E8F3B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35651-3753-83AF-2F9A-43D952C822B3}"/>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5FBBAA49-F7BF-B6C5-F94E-15BE31DEFE9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Great Gatsby Curve links higher inequality to lower social mobility. What mechanisms could generate this relationship, and what role could policy plausibly play to improve social mobility?</a:t>
            </a:r>
          </a:p>
          <a:p>
            <a:r>
              <a:rPr lang="en-GB" dirty="0"/>
              <a:t>Poverty as structural failure versus morale failure: what current policies and policy proposals can you think of that are based on each underlying view?</a:t>
            </a:r>
          </a:p>
          <a:p>
            <a:r>
              <a:rPr lang="en-GB" dirty="0"/>
              <a:t>Evaluation hinges on the counterfactual. What is the counterfactual and why is it hard to observe? What are the strengths and limitations of various counterfactual approaches?</a:t>
            </a:r>
          </a:p>
          <a:p>
            <a:pPr marL="0" indent="0">
              <a:buNone/>
            </a:pPr>
            <a:endParaRPr lang="en-GB" dirty="0"/>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1641156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FBE7E-7E31-DE06-72A3-E8D1696BB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E6876-C6AD-15C0-F0A2-7AE1071DFCD2}"/>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0B58C7F8-3B00-6AA4-AB71-34013BE3009D}"/>
              </a:ext>
            </a:extLst>
          </p:cNvPr>
          <p:cNvSpPr txBox="1"/>
          <p:nvPr/>
        </p:nvSpPr>
        <p:spPr>
          <a:xfrm>
            <a:off x="643943" y="2072116"/>
            <a:ext cx="8464639" cy="171970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The concept of poverty, the perceived causes of poverty, and the consequences attributed to poverty can all shape final policy responses.</a:t>
            </a:r>
          </a:p>
          <a:p>
            <a:pPr marL="285750" indent="-285750">
              <a:lnSpc>
                <a:spcPct val="150000"/>
              </a:lnSpc>
              <a:buFont typeface="Arial" panose="020B0604020202020204" pitchFamily="34" charset="0"/>
              <a:buChar char="•"/>
            </a:pPr>
            <a:r>
              <a:rPr lang="en-GB" dirty="0"/>
              <a:t>Therefore, policy evaluation must take these factors into account to select an appropriate evaluation approach.</a:t>
            </a:r>
            <a:endParaRPr lang="en-US" dirty="0"/>
          </a:p>
        </p:txBody>
      </p:sp>
    </p:spTree>
    <p:extLst>
      <p:ext uri="{BB962C8B-B14F-4D97-AF65-F5344CB8AC3E}">
        <p14:creationId xmlns:p14="http://schemas.microsoft.com/office/powerpoint/2010/main" val="3442558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9AE4-CABA-6118-878C-69CE80B34985}"/>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F2BE4302-C701-2C0B-3357-7079D56E1316}"/>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2F0F246-67BB-8E68-449E-8814E13A1ADD}"/>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83B6E0EF-666A-BCE7-61B0-16F44511316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85E5398D-F5BA-212D-F4E9-807EAF4A2A1E}"/>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027ACEF-F1B5-961B-1AFE-F4F4064354C8}"/>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W5 Tutorial</a:t>
            </a:r>
          </a:p>
        </p:txBody>
      </p:sp>
    </p:spTree>
    <p:extLst>
      <p:ext uri="{BB962C8B-B14F-4D97-AF65-F5344CB8AC3E}">
        <p14:creationId xmlns:p14="http://schemas.microsoft.com/office/powerpoint/2010/main" val="3628036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80746-006F-728E-6041-B591C5774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E3D5A-75F4-E663-7CCF-5BE203B7B866}"/>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966BB603-388B-953B-FA76-6F773875C8D5}"/>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Principles of insurance: Social insurance vs private insurance</a:t>
            </a:r>
          </a:p>
          <a:p>
            <a:pPr lvl="2"/>
            <a:r>
              <a:rPr lang="en-US" sz="2000" dirty="0"/>
              <a:t>Lecture 2 - Public goods provision and subsidies</a:t>
            </a:r>
          </a:p>
          <a:p>
            <a:pPr lvl="1"/>
            <a:r>
              <a:rPr lang="en-US" sz="2600" dirty="0"/>
              <a:t>What points stood out?</a:t>
            </a:r>
          </a:p>
        </p:txBody>
      </p:sp>
    </p:spTree>
    <p:extLst>
      <p:ext uri="{BB962C8B-B14F-4D97-AF65-F5344CB8AC3E}">
        <p14:creationId xmlns:p14="http://schemas.microsoft.com/office/powerpoint/2010/main" val="1133245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BF513-DD70-FAF4-D7EF-217310407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FD802-D87D-F7EE-5A0E-7F638EC165A0}"/>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79F34FDF-48E9-1E15-9431-B8E503431189}"/>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Why are some risks insured socially while others are left to markets?</a:t>
            </a:r>
          </a:p>
          <a:p>
            <a:r>
              <a:rPr lang="en-GB" dirty="0"/>
              <a:t>In what ways does social insurance blur the boundary between insurance and redistribution? Why does this matter politically?</a:t>
            </a:r>
          </a:p>
          <a:p>
            <a:r>
              <a:rPr lang="en-GB" dirty="0"/>
              <a:t>When should governments prefer direct public provision over subsidies to private providers?</a:t>
            </a:r>
          </a:p>
          <a:p>
            <a:r>
              <a:rPr lang="en-GB" dirty="0"/>
              <a:t>Why do governments directly provide services like healthcare or education rather than relying only on subsidies?</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3138606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6DB61-9FA6-5B68-1335-2F6C7F5B9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01945-59B1-1DF2-4C12-35703D03FE38}"/>
              </a:ext>
            </a:extLst>
          </p:cNvPr>
          <p:cNvSpPr>
            <a:spLocks noGrp="1"/>
          </p:cNvSpPr>
          <p:nvPr>
            <p:ph type="title"/>
          </p:nvPr>
        </p:nvSpPr>
        <p:spPr/>
        <p:txBody>
          <a:bodyPr/>
          <a:lstStyle/>
          <a:p>
            <a:r>
              <a:rPr lang="en-US" dirty="0"/>
              <a:t>Wrap-up</a:t>
            </a:r>
          </a:p>
        </p:txBody>
      </p:sp>
      <p:sp>
        <p:nvSpPr>
          <p:cNvPr id="13" name="TextBox 12">
            <a:extLst>
              <a:ext uri="{FF2B5EF4-FFF2-40B4-BE49-F238E27FC236}">
                <a16:creationId xmlns:a16="http://schemas.microsoft.com/office/drawing/2014/main" id="{5A047F39-085C-0942-4E5C-568CF153EB69}"/>
              </a:ext>
            </a:extLst>
          </p:cNvPr>
          <p:cNvSpPr txBox="1"/>
          <p:nvPr/>
        </p:nvSpPr>
        <p:spPr>
          <a:xfrm>
            <a:off x="643943" y="2072116"/>
            <a:ext cx="8464639" cy="8887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Pay attention to the key concepts that emerged in the lectures.</a:t>
            </a:r>
          </a:p>
          <a:p>
            <a:pPr marL="285750" indent="-285750">
              <a:lnSpc>
                <a:spcPct val="150000"/>
              </a:lnSpc>
              <a:buFont typeface="Arial" panose="020B0604020202020204" pitchFamily="34" charset="0"/>
              <a:buChar char="•"/>
            </a:pPr>
            <a:r>
              <a:rPr lang="en-GB" dirty="0"/>
              <a:t>A perpetual tug-of-war between state rules and market responses.</a:t>
            </a:r>
            <a:endParaRPr lang="en-US" dirty="0"/>
          </a:p>
        </p:txBody>
      </p:sp>
    </p:spTree>
    <p:extLst>
      <p:ext uri="{BB962C8B-B14F-4D97-AF65-F5344CB8AC3E}">
        <p14:creationId xmlns:p14="http://schemas.microsoft.com/office/powerpoint/2010/main" val="421235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1BA6-6304-43E1-8B00-45E33EAD0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0198E-F877-B2E1-C9CE-7113E94CCED1}"/>
              </a:ext>
            </a:extLst>
          </p:cNvPr>
          <p:cNvSpPr>
            <a:spLocks noGrp="1"/>
          </p:cNvSpPr>
          <p:nvPr>
            <p:ph type="title"/>
          </p:nvPr>
        </p:nvSpPr>
        <p:spPr/>
        <p:txBody>
          <a:bodyPr/>
          <a:lstStyle/>
          <a:p>
            <a:r>
              <a:rPr lang="en-US" dirty="0"/>
              <a:t>Wrap-up</a:t>
            </a:r>
          </a:p>
        </p:txBody>
      </p:sp>
      <p:pic>
        <p:nvPicPr>
          <p:cNvPr id="5" name="Picture 4" descr="A diagram of a country&#10;&#10;AI-generated content may be incorrect.">
            <a:extLst>
              <a:ext uri="{FF2B5EF4-FFF2-40B4-BE49-F238E27FC236}">
                <a16:creationId xmlns:a16="http://schemas.microsoft.com/office/drawing/2014/main" id="{C9FEF61C-067E-3BAE-9607-56C10F23F732}"/>
              </a:ext>
            </a:extLst>
          </p:cNvPr>
          <p:cNvPicPr>
            <a:picLocks noChangeAspect="1"/>
          </p:cNvPicPr>
          <p:nvPr/>
        </p:nvPicPr>
        <p:blipFill>
          <a:blip r:embed="rId3"/>
          <a:stretch>
            <a:fillRect/>
          </a:stretch>
        </p:blipFill>
        <p:spPr>
          <a:xfrm>
            <a:off x="6401923" y="1843279"/>
            <a:ext cx="520750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9" name="Picture 8" descr="A screenshot of a website&#10;&#10;AI-generated content may be incorrect.">
            <a:extLst>
              <a:ext uri="{FF2B5EF4-FFF2-40B4-BE49-F238E27FC236}">
                <a16:creationId xmlns:a16="http://schemas.microsoft.com/office/drawing/2014/main" id="{1987C6BC-A545-6EF0-65EB-D171EF5AE073}"/>
              </a:ext>
            </a:extLst>
          </p:cNvPr>
          <p:cNvPicPr>
            <a:picLocks noChangeAspect="1"/>
          </p:cNvPicPr>
          <p:nvPr/>
        </p:nvPicPr>
        <p:blipFill>
          <a:blip r:embed="rId4"/>
          <a:stretch>
            <a:fillRect/>
          </a:stretch>
        </p:blipFill>
        <p:spPr>
          <a:xfrm>
            <a:off x="515112" y="1843278"/>
            <a:ext cx="5461058" cy="34716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1" name="TextBox 10">
            <a:extLst>
              <a:ext uri="{FF2B5EF4-FFF2-40B4-BE49-F238E27FC236}">
                <a16:creationId xmlns:a16="http://schemas.microsoft.com/office/drawing/2014/main" id="{65F1CE10-FF09-6E8C-AAC9-310D0E59589C}"/>
              </a:ext>
            </a:extLst>
          </p:cNvPr>
          <p:cNvSpPr txBox="1"/>
          <p:nvPr/>
        </p:nvSpPr>
        <p:spPr>
          <a:xfrm>
            <a:off x="357439" y="5530231"/>
            <a:ext cx="6096000" cy="923330"/>
          </a:xfrm>
          <a:prstGeom prst="rect">
            <a:avLst/>
          </a:prstGeom>
          <a:noFill/>
        </p:spPr>
        <p:txBody>
          <a:bodyPr wrap="square">
            <a:spAutoFit/>
          </a:bodyPr>
          <a:lstStyle/>
          <a:p>
            <a:r>
              <a:rPr lang="en-US" dirty="0"/>
              <a:t>Source: https://</a:t>
            </a:r>
            <a:r>
              <a:rPr lang="en-US" dirty="0" err="1"/>
              <a:t>www.gov.uk</a:t>
            </a:r>
            <a:r>
              <a:rPr lang="en-US" dirty="0"/>
              <a:t>/government/news/record-breaking-150bn-investment-unveiled-during-us-state-visit?utm_source=</a:t>
            </a:r>
            <a:r>
              <a:rPr lang="en-US" dirty="0" err="1"/>
              <a:t>chatgpt.com</a:t>
            </a:r>
            <a:endParaRPr lang="en-US" dirty="0"/>
          </a:p>
        </p:txBody>
      </p:sp>
    </p:spTree>
    <p:extLst>
      <p:ext uri="{BB962C8B-B14F-4D97-AF65-F5344CB8AC3E}">
        <p14:creationId xmlns:p14="http://schemas.microsoft.com/office/powerpoint/2010/main" val="1182999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3CC7-4118-0333-7717-4F83FD4263F7}"/>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2E87C9C-AC66-5079-7075-8AFD147CFFF7}"/>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FA56CC3-F1AE-F701-6CC4-9E2ADA96358C}"/>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98382B71-37C4-731F-869E-03A2E95594E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49E2156A-C4F7-BCCB-9C78-B03CED275084}"/>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28E4EC26-6E5A-8117-A831-3FED7AC3A56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1258807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7F3-BB43-4BDA-060D-1DF454357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6C0D4-9200-02A9-F937-0E77BC6A09E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CF00B35-EB2E-8005-22F0-175089D0CBB9}"/>
              </a:ext>
            </a:extLst>
          </p:cNvPr>
          <p:cNvSpPr>
            <a:spLocks noGrp="1"/>
          </p:cNvSpPr>
          <p:nvPr>
            <p:ph idx="1"/>
          </p:nvPr>
        </p:nvSpPr>
        <p:spPr>
          <a:xfrm>
            <a:off x="521208" y="2082800"/>
            <a:ext cx="11155680" cy="4590716"/>
          </a:xfrm>
        </p:spPr>
        <p:txBody>
          <a:bodyPr>
            <a:normAutofit lnSpcReduction="10000"/>
          </a:bodyPr>
          <a:lstStyle/>
          <a:p>
            <a:pPr marL="0" indent="0">
              <a:buNone/>
            </a:pPr>
            <a:r>
              <a:rPr lang="en-GB" sz="2800" b="1" dirty="0"/>
              <a:t>Insightful moment:</a:t>
            </a:r>
          </a:p>
          <a:p>
            <a:pPr lvl="1"/>
            <a:r>
              <a:rPr lang="en-US" sz="2400" dirty="0"/>
              <a:t>From w2: </a:t>
            </a:r>
            <a:r>
              <a:rPr lang="en-US" sz="2400" i="1" dirty="0"/>
              <a:t>“What types of evidence do you think are most influential in economic policy debates and what are the </a:t>
            </a:r>
            <a:r>
              <a:rPr lang="en-US" sz="2400" b="1" i="1" dirty="0"/>
              <a:t>consequences</a:t>
            </a:r>
            <a:r>
              <a:rPr lang="en-US" sz="2400" i="1" dirty="0"/>
              <a:t> of that?”</a:t>
            </a:r>
          </a:p>
          <a:p>
            <a:pPr lvl="2"/>
            <a:r>
              <a:rPr lang="en-US" sz="2000" dirty="0"/>
              <a:t>Both positive and negative aspects, even other perspectives(</a:t>
            </a:r>
            <a:r>
              <a:rPr lang="en-US" sz="2000" dirty="0" err="1"/>
              <a:t>eg</a:t>
            </a:r>
            <a:r>
              <a:rPr lang="en-US" sz="2000" dirty="0"/>
              <a:t>, economic, politic, environmental, social…)</a:t>
            </a:r>
          </a:p>
          <a:p>
            <a:pPr lvl="1"/>
            <a:r>
              <a:rPr lang="en-US" sz="2200" dirty="0"/>
              <a:t>From w3: </a:t>
            </a:r>
            <a:r>
              <a:rPr lang="en-US" sz="2200" i="1" dirty="0"/>
              <a:t>“Do you think the current mainstream approach, i.e. equating market prices with value is going to be a more permanent feature or do you think value conceptions will change again?”</a:t>
            </a:r>
          </a:p>
          <a:p>
            <a:pPr lvl="2"/>
            <a:r>
              <a:rPr lang="en-GB" sz="2000" dirty="0"/>
              <a:t>A good analytical framework for developing an argument is to consider the short term and the long term: in the short term, …; in the long run, … .</a:t>
            </a:r>
          </a:p>
          <a:p>
            <a:pPr lvl="1"/>
            <a:r>
              <a:rPr lang="en-GB" sz="2200" dirty="0"/>
              <a:t>From w3: </a:t>
            </a:r>
            <a:r>
              <a:rPr lang="en-GB" sz="2200" dirty="0">
                <a:hlinkClick r:id="rId2"/>
              </a:rPr>
              <a:t>An interesting example </a:t>
            </a:r>
            <a:r>
              <a:rPr lang="en-GB" sz="2200" dirty="0"/>
              <a:t>of “When Economics Overrides </a:t>
            </a:r>
            <a:r>
              <a:rPr lang="en-GB" sz="2200"/>
              <a:t>Ethics” (framing / reframing)</a:t>
            </a:r>
            <a:endParaRPr lang="en-GB" sz="2200" dirty="0"/>
          </a:p>
          <a:p>
            <a:pPr lvl="1"/>
            <a:endParaRPr lang="en-US" sz="2800" dirty="0"/>
          </a:p>
          <a:p>
            <a:pPr lvl="1"/>
            <a:endParaRPr lang="en-US" sz="2200" dirty="0"/>
          </a:p>
        </p:txBody>
      </p:sp>
    </p:spTree>
    <p:extLst>
      <p:ext uri="{BB962C8B-B14F-4D97-AF65-F5344CB8AC3E}">
        <p14:creationId xmlns:p14="http://schemas.microsoft.com/office/powerpoint/2010/main" val="490968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F93E-1061-01D1-F586-AFD6552AA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2900A-33C9-9060-4521-2CD780D3B3B4}"/>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0D3D57AB-0F5E-3DD1-ADF5-6D5B7A31444E}"/>
              </a:ext>
            </a:extLst>
          </p:cNvPr>
          <p:cNvSpPr>
            <a:spLocks noGrp="1"/>
          </p:cNvSpPr>
          <p:nvPr>
            <p:ph idx="1"/>
          </p:nvPr>
        </p:nvSpPr>
        <p:spPr>
          <a:xfrm>
            <a:off x="521208" y="2082800"/>
            <a:ext cx="11155680" cy="4590716"/>
          </a:xfrm>
        </p:spPr>
        <p:txBody>
          <a:bodyPr>
            <a:normAutofit/>
          </a:bodyPr>
          <a:lstStyle/>
          <a:p>
            <a:pPr marL="0" indent="0">
              <a:buNone/>
            </a:pPr>
            <a:r>
              <a:rPr lang="en-GB" sz="2800" b="1" dirty="0"/>
              <a:t>Insightful moment:</a:t>
            </a:r>
          </a:p>
          <a:p>
            <a:pPr lvl="1"/>
            <a:r>
              <a:rPr lang="en-US" sz="2200" dirty="0"/>
              <a:t>From w3: the understanding of “market failure”</a:t>
            </a:r>
            <a:endParaRPr lang="en-US" sz="2800" dirty="0"/>
          </a:p>
          <a:p>
            <a:pPr marL="457200" lvl="1" indent="0">
              <a:buNone/>
            </a:pPr>
            <a:endParaRPr lang="en-US" sz="2200" dirty="0"/>
          </a:p>
        </p:txBody>
      </p:sp>
    </p:spTree>
    <p:extLst>
      <p:ext uri="{BB962C8B-B14F-4D97-AF65-F5344CB8AC3E}">
        <p14:creationId xmlns:p14="http://schemas.microsoft.com/office/powerpoint/2010/main" val="112329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461-1FBC-52CD-D0A0-C955D03A9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120E7-93AD-C73F-8A53-2BE2998D4D11}"/>
              </a:ext>
            </a:extLst>
          </p:cNvPr>
          <p:cNvSpPr>
            <a:spLocks noGrp="1"/>
          </p:cNvSpPr>
          <p:nvPr>
            <p:ph type="title"/>
          </p:nvPr>
        </p:nvSpPr>
        <p:spPr/>
        <p:txBody>
          <a:bodyPr/>
          <a:lstStyle/>
          <a:p>
            <a:r>
              <a:rPr lang="en-US" dirty="0"/>
              <a:t>Recap (10-15min)</a:t>
            </a:r>
          </a:p>
        </p:txBody>
      </p:sp>
      <p:sp>
        <p:nvSpPr>
          <p:cNvPr id="3" name="Content Placeholder 2">
            <a:extLst>
              <a:ext uri="{FF2B5EF4-FFF2-40B4-BE49-F238E27FC236}">
                <a16:creationId xmlns:a16="http://schemas.microsoft.com/office/drawing/2014/main" id="{53A4167F-FAB0-3300-5154-B3393E239A03}"/>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State Intervention and Regulation of Markets</a:t>
            </a:r>
          </a:p>
          <a:p>
            <a:pPr lvl="2"/>
            <a:r>
              <a:rPr lang="en-US" sz="2000" dirty="0"/>
              <a:t>Lecture 2: Taxes and Benefits</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1816308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6FEE-ECE1-FD7E-838A-9BB582F4D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A337-794C-3967-76E1-B78B1D450F96}"/>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10B62329-93C5-FBFF-2962-C980A5745CC3}"/>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How do we distinguish between market-correcting and market-distorting interventions in practice? Can the same policy plausibly be described as both?</a:t>
            </a:r>
          </a:p>
          <a:p>
            <a:r>
              <a:rPr lang="en-GB" dirty="0"/>
              <a:t>Compare cash transfers and in-kind benefits: what are the economic trade-offs in terms of efficiency, targeting, and political support</a:t>
            </a:r>
          </a:p>
          <a:p>
            <a:r>
              <a:rPr lang="en-GB" dirty="0"/>
              <a:t>Can redistribution ever be efficiency-enhancing?</a:t>
            </a:r>
          </a:p>
          <a:p>
            <a:pPr marL="0" indent="0">
              <a:buNone/>
            </a:pPr>
            <a:r>
              <a:rPr lang="en-GB" dirty="0"/>
              <a:t>Draw on a news story or piece of evidence that illustrates a concept from the lecture or discussion questions.</a:t>
            </a:r>
          </a:p>
        </p:txBody>
      </p:sp>
    </p:spTree>
    <p:extLst>
      <p:ext uri="{BB962C8B-B14F-4D97-AF65-F5344CB8AC3E}">
        <p14:creationId xmlns:p14="http://schemas.microsoft.com/office/powerpoint/2010/main" val="2563570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F0FF-1E4F-657D-9653-F7A4C6F3F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37AA8E-4DA4-C241-87D3-1D4575141C64}"/>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F7830C6F-F436-35BE-5C06-A335C03F6E6B}"/>
              </a:ext>
            </a:extLst>
          </p:cNvPr>
          <p:cNvSpPr>
            <a:spLocks noGrp="1"/>
          </p:cNvSpPr>
          <p:nvPr>
            <p:ph idx="1"/>
          </p:nvPr>
        </p:nvSpPr>
        <p:spPr>
          <a:xfrm>
            <a:off x="521208" y="2082800"/>
            <a:ext cx="11155680" cy="4263136"/>
          </a:xfrm>
        </p:spPr>
        <p:txBody>
          <a:bodyPr>
            <a:normAutofit/>
          </a:bodyPr>
          <a:lstStyle/>
          <a:p>
            <a:pPr lvl="0"/>
            <a:r>
              <a:rPr lang="en-US" sz="2000" dirty="0">
                <a:solidFill>
                  <a:schemeClr val="tx1">
                    <a:lumMod val="50000"/>
                    <a:lumOff val="50000"/>
                  </a:schemeClr>
                </a:solidFill>
              </a:rPr>
              <a:t>(Lukas) </a:t>
            </a:r>
            <a:r>
              <a:rPr lang="en-US" sz="2000" dirty="0"/>
              <a:t>Your job in this course: make claims precise, interrogate evidence, and argue transparently.</a:t>
            </a:r>
          </a:p>
          <a:p>
            <a:pPr lvl="0"/>
            <a:r>
              <a:rPr lang="en-GB" sz="2000" dirty="0"/>
              <a:t>Understanding “</a:t>
            </a:r>
            <a:r>
              <a:rPr lang="en-GB" sz="2000" i="1" dirty="0">
                <a:solidFill>
                  <a:srgbClr val="FF0000"/>
                </a:solidFill>
              </a:rPr>
              <a:t>market-correcting</a:t>
            </a:r>
            <a:r>
              <a:rPr lang="en-GB" sz="2000" dirty="0"/>
              <a:t>” and “</a:t>
            </a:r>
            <a:r>
              <a:rPr lang="en-GB" sz="2000" i="1" dirty="0">
                <a:solidFill>
                  <a:srgbClr val="FF0000"/>
                </a:solidFill>
              </a:rPr>
              <a:t>market-distorting</a:t>
            </a:r>
            <a:r>
              <a:rPr lang="en-GB" sz="2000" dirty="0"/>
              <a:t>”</a:t>
            </a:r>
          </a:p>
        </p:txBody>
      </p:sp>
    </p:spTree>
    <p:extLst>
      <p:ext uri="{BB962C8B-B14F-4D97-AF65-F5344CB8AC3E}">
        <p14:creationId xmlns:p14="http://schemas.microsoft.com/office/powerpoint/2010/main" val="2038284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W3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2C8D-80CD-5729-63B3-1B3ABA8D7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9969-FC48-D6C6-E50B-031A48DE1402}"/>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470371-87A4-8D04-C8B0-B7421056F4CF}"/>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Markets and utility: a straight-forward story?</a:t>
            </a:r>
          </a:p>
          <a:p>
            <a:pPr lvl="2"/>
            <a:r>
              <a:rPr lang="en-US" sz="2000" dirty="0"/>
              <a:t>Lecture 2: Is it all in the price? Questions about economic value</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2950336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14B9-ED10-AE2A-2D99-EA240F6E6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DDE6-68E4-DD99-4D58-108BCF2DAA8F}"/>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9FFDCBE-349A-9E98-20CE-C94787DEC30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dominant way in which economic value is conceptualised has changed many times historically. Do you think the current mainstream approach, i.e. equating market prices with value is going to be a more permanent feature or do you think value conceptions will change again? What might drive that change and in what direction?</a:t>
            </a:r>
          </a:p>
          <a:p>
            <a:r>
              <a:rPr lang="en-GB" dirty="0"/>
              <a:t>We know that people don't regularly behave as classic economic theories postulate. But when we do not rely on assumptions about economic behaviour, modelling market interactions becomes very complicated, as we need to expand the scope of evidence we use greatly. In what circumstances may it be useful and sufficient as a policy maker to rely on stronger assumptions about economic behaviour? How should we go about such uses though?</a:t>
            </a:r>
          </a:p>
          <a:p>
            <a:r>
              <a:rPr lang="en-GB" dirty="0"/>
              <a:t>News stories or piece of evidence</a:t>
            </a:r>
          </a:p>
        </p:txBody>
      </p:sp>
    </p:spTree>
    <p:extLst>
      <p:ext uri="{BB962C8B-B14F-4D97-AF65-F5344CB8AC3E}">
        <p14:creationId xmlns:p14="http://schemas.microsoft.com/office/powerpoint/2010/main" val="3518453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1C8A-4BF0-1A60-CC2C-30509A5DC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5052D-8CF3-155C-0685-3D82D9C6930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9AA05D3C-6672-082F-D025-7384CF6A6D5D}"/>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902317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167E-5ABB-200A-EEAC-277738F66CE4}"/>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096300A1-AC70-8C2A-8203-2315197F4AC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A417C17-FDB0-D3B6-BD46-9C2357A392A8}"/>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EDA76978-24B5-FC01-8FAA-5C5441E904E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229C44E9-DF88-95D8-C232-793A870D42D9}"/>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C59A893D-15CE-2392-E4F4-089B08BACA7F}"/>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W2 Tutorial</a:t>
            </a:r>
          </a:p>
        </p:txBody>
      </p:sp>
    </p:spTree>
    <p:extLst>
      <p:ext uri="{BB962C8B-B14F-4D97-AF65-F5344CB8AC3E}">
        <p14:creationId xmlns:p14="http://schemas.microsoft.com/office/powerpoint/2010/main" val="1036481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3136</TotalTime>
  <Words>1496</Words>
  <Application>Microsoft Macintosh PowerPoint</Application>
  <PresentationFormat>Widescreen</PresentationFormat>
  <Paragraphs>132</Paragraphs>
  <Slides>24</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Bierstadt</vt:lpstr>
      <vt:lpstr>Bradley Hand</vt:lpstr>
      <vt:lpstr>GestaltVTI</vt:lpstr>
      <vt:lpstr>https://github.com/RhodaJiang/Evidence-Economy-and-Social-Policy-2025-2026-SEM2-</vt:lpstr>
      <vt:lpstr>Recap (10-15min)</vt:lpstr>
      <vt:lpstr>Activity(35-40min) </vt:lpstr>
      <vt:lpstr>Wrap-up</vt:lpstr>
      <vt:lpstr>https://github.com/RhodaJiang/Evidence-Economy-and-Social-Policy-2025-2026-SEM2-</vt:lpstr>
      <vt:lpstr>Recap (10-15min)</vt:lpstr>
      <vt:lpstr>Activity(35-40min) </vt:lpstr>
      <vt:lpstr>Wrap-up</vt:lpstr>
      <vt:lpstr>Wrap-up</vt:lpstr>
      <vt:lpstr>https://github.com/RhodaJiang/Evidence-Economy-and-Social-Policy-2025-2026-SEM2-</vt:lpstr>
      <vt:lpstr>Recap (10-15min)</vt:lpstr>
      <vt:lpstr>Recap (10-15min)</vt:lpstr>
      <vt:lpstr>Recap (10-15min)</vt:lpstr>
      <vt:lpstr>Activity(35-40min) </vt:lpstr>
      <vt:lpstr>Wrap-up</vt:lpstr>
      <vt:lpstr>https://github.com/RhodaJiang/Evidence-Economy-and-Social-Policy-2025-2026-SEM2-</vt:lpstr>
      <vt:lpstr>Recap (~10min)</vt:lpstr>
      <vt:lpstr>Activity(35-40min) </vt:lpstr>
      <vt:lpstr>Wrap-up</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21</cp:revision>
  <dcterms:created xsi:type="dcterms:W3CDTF">2025-09-20T14:48:19Z</dcterms:created>
  <dcterms:modified xsi:type="dcterms:W3CDTF">2026-02-26T18:32:57Z</dcterms:modified>
</cp:coreProperties>
</file>