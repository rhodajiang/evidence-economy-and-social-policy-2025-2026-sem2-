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11"/>
  </p:notesMasterIdLst>
  <p:sldIdLst>
    <p:sldId id="256" r:id="rId2"/>
    <p:sldId id="269" r:id="rId3"/>
    <p:sldId id="267" r:id="rId4"/>
    <p:sldId id="268" r:id="rId5"/>
    <p:sldId id="266" r:id="rId6"/>
    <p:sldId id="258" r:id="rId7"/>
    <p:sldId id="265" r:id="rId8"/>
    <p:sldId id="260"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80030"/>
  </p:normalViewPr>
  <p:slideViewPr>
    <p:cSldViewPr snapToGrid="0">
      <p:cViewPr>
        <p:scale>
          <a:sx n="98" d="100"/>
          <a:sy n="98" d="100"/>
        </p:scale>
        <p:origin x="776" y="-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E6A6C5-97B6-FE4A-95C7-05970C33DEAA}" type="datetimeFigureOut">
              <a:rPr lang="en-US" smtClean="0"/>
              <a:t>1/29/26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A4955F-0A3A-8646-A0A1-4EB5E93277E6}" type="slidenum">
              <a:rPr lang="en-US" smtClean="0"/>
              <a:t>‹#›</a:t>
            </a:fld>
            <a:endParaRPr lang="en-US"/>
          </a:p>
        </p:txBody>
      </p:sp>
    </p:spTree>
    <p:extLst>
      <p:ext uri="{BB962C8B-B14F-4D97-AF65-F5344CB8AC3E}">
        <p14:creationId xmlns:p14="http://schemas.microsoft.com/office/powerpoint/2010/main" val="18810199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2E4CD-D723-F1C3-800B-5CE6A8061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CA5FD-8000-2084-3F1C-8B902969A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32315-EA7F-29A0-5901-CB53C503551E}"/>
              </a:ext>
            </a:extLst>
          </p:cNvPr>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a:extLst>
              <a:ext uri="{FF2B5EF4-FFF2-40B4-BE49-F238E27FC236}">
                <a16:creationId xmlns:a16="http://schemas.microsoft.com/office/drawing/2014/main" id="{B0205D8E-9CA8-28B6-138D-8B547022CFBE}"/>
              </a:ext>
            </a:extLst>
          </p:cNvPr>
          <p:cNvSpPr>
            <a:spLocks noGrp="1"/>
          </p:cNvSpPr>
          <p:nvPr>
            <p:ph type="sldNum" sz="quarter" idx="5"/>
          </p:nvPr>
        </p:nvSpPr>
        <p:spPr/>
        <p:txBody>
          <a:bodyPr/>
          <a:lstStyle/>
          <a:p>
            <a:fld id="{33A4955F-0A3A-8646-A0A1-4EB5E93277E6}" type="slidenum">
              <a:rPr lang="en-US" smtClean="0"/>
              <a:t>4</a:t>
            </a:fld>
            <a:endParaRPr lang="en-US"/>
          </a:p>
        </p:txBody>
      </p:sp>
    </p:spTree>
    <p:extLst>
      <p:ext uri="{BB962C8B-B14F-4D97-AF65-F5344CB8AC3E}">
        <p14:creationId xmlns:p14="http://schemas.microsoft.com/office/powerpoint/2010/main" val="2794727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Capitalism and neoliberalism involve different concepts and dimensions, which fully demonstrate the complexity of these two ideas. It is essential to grasp this complexity and extract the most crucial fundamental characteristics from it.</a:t>
            </a:r>
          </a:p>
          <a:p>
            <a:endParaRPr lang="en-US" dirty="0"/>
          </a:p>
        </p:txBody>
      </p:sp>
      <p:sp>
        <p:nvSpPr>
          <p:cNvPr id="4" name="Slide Number Placeholder 3"/>
          <p:cNvSpPr>
            <a:spLocks noGrp="1"/>
          </p:cNvSpPr>
          <p:nvPr>
            <p:ph type="sldNum" sz="quarter" idx="5"/>
          </p:nvPr>
        </p:nvSpPr>
        <p:spPr/>
        <p:txBody>
          <a:bodyPr/>
          <a:lstStyle/>
          <a:p>
            <a:fld id="{33A4955F-0A3A-8646-A0A1-4EB5E93277E6}" type="slidenum">
              <a:rPr lang="en-US" smtClean="0"/>
              <a:t>9</a:t>
            </a:fld>
            <a:endParaRPr lang="en-US"/>
          </a:p>
        </p:txBody>
      </p:sp>
    </p:spTree>
    <p:extLst>
      <p:ext uri="{BB962C8B-B14F-4D97-AF65-F5344CB8AC3E}">
        <p14:creationId xmlns:p14="http://schemas.microsoft.com/office/powerpoint/2010/main" val="920812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1/29/26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41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1/29/26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502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1/29/26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24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1/29/26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987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1/29/26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217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1/29/26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535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1/29/26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247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1/29/26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2692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1/29/26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132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1/29/26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999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1/29/26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382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1/29/26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52618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op view of a background splashed with colors">
            <a:extLst>
              <a:ext uri="{FF2B5EF4-FFF2-40B4-BE49-F238E27FC236}">
                <a16:creationId xmlns:a16="http://schemas.microsoft.com/office/drawing/2014/main" id="{93895ED1-BD46-9B4D-16DE-3DAF16A996D1}"/>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144A27D1-220F-D30D-363A-4C8E949DEECA}"/>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D718E533-6961-34CC-C16B-5EE208B82E7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F9C16D7-1684-F5F9-915C-09A6A00BCFC3}"/>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solidFill>
                  <a:schemeClr val="bg1"/>
                </a:solidFill>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562CA603-5795-9C2F-AB97-54FAA5FF303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W3 Tutorial</a:t>
            </a:r>
          </a:p>
        </p:txBody>
      </p:sp>
    </p:spTree>
    <p:extLst>
      <p:ext uri="{BB962C8B-B14F-4D97-AF65-F5344CB8AC3E}">
        <p14:creationId xmlns:p14="http://schemas.microsoft.com/office/powerpoint/2010/main" val="129053085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A2C8D-80CD-5729-63B3-1B3ABA8D7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B9969-FC48-D6C6-E50B-031A48DE1402}"/>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86470371-87A4-8D04-C8B0-B7421056F4CF}"/>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Markets and utility: a straight-forward story?</a:t>
            </a:r>
          </a:p>
          <a:p>
            <a:pPr lvl="2"/>
            <a:r>
              <a:rPr lang="en-US" sz="2000" dirty="0"/>
              <a:t>Lecture 2: Is it all in the price? Questions about economic value</a:t>
            </a:r>
          </a:p>
          <a:p>
            <a:pPr marL="914400" lvl="2" indent="0">
              <a:buNone/>
            </a:pPr>
            <a:endParaRPr lang="en-US" sz="2000" dirty="0"/>
          </a:p>
          <a:p>
            <a:pPr lvl="1"/>
            <a:r>
              <a:rPr lang="en-US" sz="2600" dirty="0"/>
              <a:t>What points stood out?</a:t>
            </a:r>
          </a:p>
        </p:txBody>
      </p:sp>
    </p:spTree>
    <p:extLst>
      <p:ext uri="{BB962C8B-B14F-4D97-AF65-F5344CB8AC3E}">
        <p14:creationId xmlns:p14="http://schemas.microsoft.com/office/powerpoint/2010/main" val="2950336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014B9-ED10-AE2A-2D99-EA240F6E69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AEDDE6-68E4-DD99-4D58-108BCF2DAA8F}"/>
              </a:ext>
            </a:extLst>
          </p:cNvPr>
          <p:cNvSpPr>
            <a:spLocks noGrp="1"/>
          </p:cNvSpPr>
          <p:nvPr>
            <p:ph type="title"/>
          </p:nvPr>
        </p:nvSpPr>
        <p:spPr/>
        <p:txBody>
          <a:bodyPr/>
          <a:lstStyle/>
          <a:p>
            <a:r>
              <a:rPr lang="en-US" dirty="0"/>
              <a:t>Activity(35-40min) </a:t>
            </a:r>
          </a:p>
        </p:txBody>
      </p:sp>
      <p:sp>
        <p:nvSpPr>
          <p:cNvPr id="3" name="Content Placeholder 2">
            <a:extLst>
              <a:ext uri="{FF2B5EF4-FFF2-40B4-BE49-F238E27FC236}">
                <a16:creationId xmlns:a16="http://schemas.microsoft.com/office/drawing/2014/main" id="{E9FFDCBE-349A-9E98-20CE-C94787DEC30C}"/>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 </a:t>
            </a:r>
          </a:p>
          <a:p>
            <a:r>
              <a:rPr lang="en-GB" dirty="0"/>
              <a:t>The dominant way in which economic value is conceptualised has changed many times historically. Do you think the current mainstream approach, i.e. equating market prices with value is going to be a more permanent feature or do you think value conceptions will change again? What might drive that change and in what direction?</a:t>
            </a:r>
          </a:p>
          <a:p>
            <a:r>
              <a:rPr lang="en-GB" dirty="0"/>
              <a:t>We know that people don't regularly behave as classic economic theories postulate. But when we do not rely on assumptions about economic behaviour, modelling market interactions becomes very complicated, as we need to expand the scope of evidence we use greatly. In what circumstances may it be useful and sufficient as a policy maker to rely on stronger assumptions about economic behaviour? How should we go about such uses though?</a:t>
            </a:r>
          </a:p>
          <a:p>
            <a:r>
              <a:rPr lang="en-GB" dirty="0"/>
              <a:t>News stories or piece of evidence</a:t>
            </a:r>
          </a:p>
        </p:txBody>
      </p:sp>
    </p:spTree>
    <p:extLst>
      <p:ext uri="{BB962C8B-B14F-4D97-AF65-F5344CB8AC3E}">
        <p14:creationId xmlns:p14="http://schemas.microsoft.com/office/powerpoint/2010/main" val="3518453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51C8A-4BF0-1A60-CC2C-30509A5DC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5052D-8CF3-155C-0685-3D82D9C69306}"/>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9AA05D3C-6672-082F-D025-7384CF6A6D5D}"/>
              </a:ext>
            </a:extLst>
          </p:cNvPr>
          <p:cNvSpPr>
            <a:spLocks noGrp="1"/>
          </p:cNvSpPr>
          <p:nvPr>
            <p:ph idx="1"/>
          </p:nvPr>
        </p:nvSpPr>
        <p:spPr>
          <a:xfrm>
            <a:off x="521208" y="2082800"/>
            <a:ext cx="11155680" cy="4263136"/>
          </a:xfrm>
        </p:spPr>
        <p:txBody>
          <a:bodyPr>
            <a:normAutofit/>
          </a:bodyPr>
          <a:lstStyle/>
          <a:p>
            <a:pPr lvl="0"/>
            <a:r>
              <a:rPr lang="en-GB" sz="2400" dirty="0"/>
              <a:t>The blind spots of “big system”: </a:t>
            </a:r>
            <a:r>
              <a:rPr lang="en-US" dirty="0"/>
              <a:t>(Davies, 2024: p76)</a:t>
            </a:r>
            <a:r>
              <a:rPr lang="en-GB" sz="2400" dirty="0"/>
              <a:t> </a:t>
            </a:r>
          </a:p>
          <a:p>
            <a:pPr lvl="1"/>
            <a:r>
              <a:rPr lang="en-GB" sz="2200" dirty="0"/>
              <a:t>the belief in markets as computing fabric, </a:t>
            </a:r>
          </a:p>
          <a:p>
            <a:pPr lvl="1"/>
            <a:r>
              <a:rPr lang="en-GB" sz="2200" dirty="0"/>
              <a:t>the flattening of time and uncertainty and </a:t>
            </a:r>
          </a:p>
          <a:p>
            <a:pPr lvl="1"/>
            <a:r>
              <a:rPr lang="en-GB" sz="2200" dirty="0"/>
              <a:t>the commitment to </a:t>
            </a:r>
            <a:r>
              <a:rPr lang="en-GB" sz="2200" dirty="0" err="1"/>
              <a:t>Ricardianism</a:t>
            </a:r>
            <a:r>
              <a:rPr lang="en-GB" sz="2200" dirty="0"/>
              <a:t>.</a:t>
            </a:r>
            <a:endParaRPr lang="en-US" sz="2200" dirty="0"/>
          </a:p>
        </p:txBody>
      </p:sp>
    </p:spTree>
    <p:extLst>
      <p:ext uri="{BB962C8B-B14F-4D97-AF65-F5344CB8AC3E}">
        <p14:creationId xmlns:p14="http://schemas.microsoft.com/office/powerpoint/2010/main" val="902317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F167E-5ABB-200A-EEAC-277738F66CE4}"/>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096300A1-AC70-8C2A-8203-2315197F4AC9}"/>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5A417C17-FDB0-D3B6-BD46-9C2357A392A8}"/>
              </a:ext>
            </a:extLst>
          </p:cNvPr>
          <p:cNvSpPr>
            <a:spLocks noGrp="1"/>
          </p:cNvSpPr>
          <p:nvPr>
            <p:ph type="ctrTitle"/>
          </p:nvPr>
        </p:nvSpPr>
        <p:spPr>
          <a:xfrm>
            <a:off x="320038" y="5545297"/>
            <a:ext cx="11499428" cy="960120"/>
          </a:xfrm>
          <a:ln>
            <a:noFill/>
          </a:ln>
        </p:spPr>
        <p:txBody>
          <a:bodyPr anchor="ctr">
            <a:normAutofit/>
          </a:bodyPr>
          <a:lstStyle/>
          <a:p>
            <a:pPr algn="ctr"/>
            <a:r>
              <a:rPr lang="en-US" sz="2000" dirty="0"/>
              <a:t>https://</a:t>
            </a:r>
            <a:r>
              <a:rPr lang="en-US" sz="2000" dirty="0" err="1"/>
              <a:t>github.com</a:t>
            </a:r>
            <a:r>
              <a:rPr lang="en-US" sz="2000" dirty="0"/>
              <a:t>/</a:t>
            </a:r>
            <a:r>
              <a:rPr lang="en-US" sz="2000" dirty="0" err="1"/>
              <a:t>RhodaJiang</a:t>
            </a:r>
            <a:r>
              <a:rPr lang="en-US" sz="2000" dirty="0"/>
              <a:t>/Evidence-Economy-and-Social-Policy-2025-2026-SEM2-</a:t>
            </a:r>
          </a:p>
        </p:txBody>
      </p:sp>
      <p:sp>
        <p:nvSpPr>
          <p:cNvPr id="3" name="Subtitle 2">
            <a:extLst>
              <a:ext uri="{FF2B5EF4-FFF2-40B4-BE49-F238E27FC236}">
                <a16:creationId xmlns:a16="http://schemas.microsoft.com/office/drawing/2014/main" id="{EDA76978-24B5-FC01-8FAA-5C5441E904E4}"/>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229C44E9-DF88-95D8-C232-793A870D42D9}"/>
              </a:ext>
            </a:extLst>
          </p:cNvPr>
          <p:cNvSpPr txBox="1"/>
          <p:nvPr/>
        </p:nvSpPr>
        <p:spPr>
          <a:xfrm>
            <a:off x="1580825" y="1972727"/>
            <a:ext cx="8369085"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 Evidence, Economy, and Social Policy (2025-2026)</a:t>
            </a:r>
          </a:p>
        </p:txBody>
      </p:sp>
      <p:sp>
        <p:nvSpPr>
          <p:cNvPr id="6" name="Title 1">
            <a:extLst>
              <a:ext uri="{FF2B5EF4-FFF2-40B4-BE49-F238E27FC236}">
                <a16:creationId xmlns:a16="http://schemas.microsoft.com/office/drawing/2014/main" id="{C59A893D-15CE-2392-E4F4-089B08BACA7F}"/>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W2 Tutorial</a:t>
            </a:r>
          </a:p>
        </p:txBody>
      </p:sp>
    </p:spTree>
    <p:extLst>
      <p:ext uri="{BB962C8B-B14F-4D97-AF65-F5344CB8AC3E}">
        <p14:creationId xmlns:p14="http://schemas.microsoft.com/office/powerpoint/2010/main" val="10364816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4126807-1D8E-D373-18A6-F5D650BE79A9}"/>
              </a:ext>
            </a:extLst>
          </p:cNvPr>
          <p:cNvSpPr>
            <a:spLocks noGrp="1"/>
          </p:cNvSpPr>
          <p:nvPr>
            <p:ph type="title"/>
          </p:nvPr>
        </p:nvSpPr>
        <p:spPr>
          <a:xfrm>
            <a:off x="521208" y="978408"/>
            <a:ext cx="11155680" cy="1115568"/>
          </a:xfrm>
        </p:spPr>
        <p:txBody>
          <a:bodyPr>
            <a:normAutofit fontScale="90000"/>
          </a:bodyPr>
          <a:lstStyle/>
          <a:p>
            <a:pPr>
              <a:lnSpc>
                <a:spcPct val="90000"/>
              </a:lnSpc>
            </a:pPr>
            <a:r>
              <a:rPr lang="en-GB" sz="3700" dirty="0"/>
              <a:t>Icebreaker Activity: Name &amp; Favourite Thing</a:t>
            </a:r>
            <a:r>
              <a:rPr lang="en-US" sz="3700" dirty="0"/>
              <a:t> (8-10min)</a:t>
            </a:r>
          </a:p>
        </p:txBody>
      </p:sp>
      <p:sp>
        <p:nvSpPr>
          <p:cNvPr id="17" name="Freeform: Shape 16">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Picture 9" descr="A group of people sitting around a table&#10;&#10;AI-generated content may be incorrect.">
            <a:extLst>
              <a:ext uri="{FF2B5EF4-FFF2-40B4-BE49-F238E27FC236}">
                <a16:creationId xmlns:a16="http://schemas.microsoft.com/office/drawing/2014/main" id="{62138F79-1912-4A47-F7F5-72F0FC1AB5A4}"/>
              </a:ext>
            </a:extLst>
          </p:cNvPr>
          <p:cNvPicPr>
            <a:picLocks noChangeAspect="1"/>
          </p:cNvPicPr>
          <p:nvPr/>
        </p:nvPicPr>
        <p:blipFill>
          <a:blip r:embed="rId2"/>
          <a:srcRect r="8031" b="-1"/>
          <a:stretch>
            <a:fillRect/>
          </a:stretch>
        </p:blipFill>
        <p:spPr>
          <a:xfrm>
            <a:off x="731621" y="1919381"/>
            <a:ext cx="5578133" cy="4048568"/>
          </a:xfrm>
          <a:prstGeom prst="rect">
            <a:avLst/>
          </a:prstGeom>
        </p:spPr>
      </p:pic>
      <p:sp>
        <p:nvSpPr>
          <p:cNvPr id="5" name="Rectangle 1">
            <a:extLst>
              <a:ext uri="{FF2B5EF4-FFF2-40B4-BE49-F238E27FC236}">
                <a16:creationId xmlns:a16="http://schemas.microsoft.com/office/drawing/2014/main" id="{0235AF50-E1AB-52AA-0716-7A909DA93945}"/>
              </a:ext>
            </a:extLst>
          </p:cNvPr>
          <p:cNvSpPr>
            <a:spLocks noGrp="1" noChangeArrowheads="1"/>
          </p:cNvSpPr>
          <p:nvPr>
            <p:ph idx="1"/>
          </p:nvPr>
        </p:nvSpPr>
        <p:spPr bwMode="auto">
          <a:xfrm>
            <a:off x="6510528" y="2304288"/>
            <a:ext cx="5157216" cy="405079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first person says their name and one thing they like.</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second person repeats the first person's name and their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The third person repeats the second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adds their own.</a:t>
            </a:r>
          </a:p>
          <a:p>
            <a:pPr eaLnBrk="0" fontAlgn="base" hangingPunct="0">
              <a:spcBef>
                <a:spcPct val="0"/>
              </a:spcBef>
              <a:spcAft>
                <a:spcPts val="600"/>
              </a:spcAft>
            </a:pPr>
            <a:r>
              <a:rPr kumimoji="0" lang="en-US" altLang="en-US" b="0" i="0" u="none" strike="noStrike" cap="none" normalizeH="0" baseline="0" dirty="0">
                <a:ln>
                  <a:noFill/>
                </a:ln>
                <a:effectLst/>
                <a:latin typeface="Arial" panose="020B0604020202020204" pitchFamily="34" charset="0"/>
              </a:rPr>
              <a:t>Continue this pattern, with each person repeating the previous person's name and </a:t>
            </a:r>
            <a:r>
              <a:rPr kumimoji="0" lang="en-US" altLang="en-US" b="0" i="0" u="none" strike="noStrike" cap="none" normalizeH="0" baseline="0" dirty="0" err="1">
                <a:ln>
                  <a:noFill/>
                </a:ln>
                <a:effectLst/>
                <a:latin typeface="Arial" panose="020B0604020202020204" pitchFamily="34" charset="0"/>
              </a:rPr>
              <a:t>favourite</a:t>
            </a:r>
            <a:r>
              <a:rPr kumimoji="0" lang="en-US" altLang="en-US" b="0" i="0" u="none" strike="noStrike" cap="none" normalizeH="0" baseline="0" dirty="0">
                <a:ln>
                  <a:noFill/>
                </a:ln>
                <a:effectLst/>
                <a:latin typeface="Arial" panose="020B0604020202020204" pitchFamily="34" charset="0"/>
              </a:rPr>
              <a:t> thing, then adding their own.</a:t>
            </a:r>
          </a:p>
        </p:txBody>
      </p:sp>
    </p:spTree>
    <p:extLst>
      <p:ext uri="{BB962C8B-B14F-4D97-AF65-F5344CB8AC3E}">
        <p14:creationId xmlns:p14="http://schemas.microsoft.com/office/powerpoint/2010/main" val="3603650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49AB-B75F-9A89-914C-44BAA4C8DE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7F5FF9-2286-8443-832A-B3E848DCFDE8}"/>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CA94D94E-085C-5B36-8A6D-ACCC7EFFA158}"/>
              </a:ext>
            </a:extLst>
          </p:cNvPr>
          <p:cNvSpPr>
            <a:spLocks noGrp="1"/>
          </p:cNvSpPr>
          <p:nvPr>
            <p:ph idx="1"/>
          </p:nvPr>
        </p:nvSpPr>
        <p:spPr>
          <a:xfrm>
            <a:off x="521208" y="2082800"/>
            <a:ext cx="11155680" cy="4263136"/>
          </a:xfrm>
        </p:spPr>
        <p:txBody>
          <a:bodyPr>
            <a:normAutofit/>
          </a:bodyPr>
          <a:lstStyle/>
          <a:p>
            <a:pPr marL="0" indent="0">
              <a:buNone/>
            </a:pPr>
            <a:r>
              <a:rPr lang="en-GB" sz="2800" b="1" dirty="0"/>
              <a:t>Any open questions from lectures?</a:t>
            </a:r>
          </a:p>
          <a:p>
            <a:pPr lvl="1"/>
            <a:r>
              <a:rPr lang="en-US" sz="2400" dirty="0"/>
              <a:t>What did you learn?</a:t>
            </a:r>
          </a:p>
          <a:p>
            <a:pPr lvl="2"/>
            <a:r>
              <a:rPr lang="en-US" sz="2000" dirty="0"/>
              <a:t>Lecture 1 - Evidence, Economy, and Social Policy: an introduction to the course</a:t>
            </a:r>
          </a:p>
          <a:p>
            <a:pPr lvl="2"/>
            <a:r>
              <a:rPr lang="en-US" sz="2000" dirty="0"/>
              <a:t>Lecture 2 - “Left” vs “Right” social policy? Why economic analyses are much more complex</a:t>
            </a:r>
          </a:p>
          <a:p>
            <a:pPr lvl="1"/>
            <a:r>
              <a:rPr lang="en-US" sz="2400" dirty="0"/>
              <a:t>What points stood out?</a:t>
            </a:r>
          </a:p>
        </p:txBody>
      </p:sp>
    </p:spTree>
    <p:extLst>
      <p:ext uri="{BB962C8B-B14F-4D97-AF65-F5344CB8AC3E}">
        <p14:creationId xmlns:p14="http://schemas.microsoft.com/office/powerpoint/2010/main" val="4197483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E178-4D0C-18BE-025C-95BAC3B6E568}"/>
              </a:ext>
            </a:extLst>
          </p:cNvPr>
          <p:cNvSpPr>
            <a:spLocks noGrp="1"/>
          </p:cNvSpPr>
          <p:nvPr>
            <p:ph type="title"/>
          </p:nvPr>
        </p:nvSpPr>
        <p:spPr/>
        <p:txBody>
          <a:bodyPr/>
          <a:lstStyle/>
          <a:p>
            <a:r>
              <a:rPr lang="en-US" dirty="0"/>
              <a:t>Activity (20-25min)</a:t>
            </a:r>
          </a:p>
        </p:txBody>
      </p:sp>
      <p:sp>
        <p:nvSpPr>
          <p:cNvPr id="3" name="Content Placeholder 2">
            <a:extLst>
              <a:ext uri="{FF2B5EF4-FFF2-40B4-BE49-F238E27FC236}">
                <a16:creationId xmlns:a16="http://schemas.microsoft.com/office/drawing/2014/main" id="{C6CFD31F-5A20-4EB2-00B5-6AFC869B854B}"/>
              </a:ext>
            </a:extLst>
          </p:cNvPr>
          <p:cNvSpPr>
            <a:spLocks noGrp="1"/>
          </p:cNvSpPr>
          <p:nvPr>
            <p:ph idx="1"/>
          </p:nvPr>
        </p:nvSpPr>
        <p:spPr>
          <a:xfrm>
            <a:off x="521208" y="2015067"/>
            <a:ext cx="11155680" cy="4330869"/>
          </a:xfrm>
        </p:spPr>
        <p:txBody>
          <a:bodyPr>
            <a:normAutofit/>
          </a:bodyPr>
          <a:lstStyle/>
          <a:p>
            <a:pPr marL="0" indent="0">
              <a:buNone/>
            </a:pPr>
            <a:r>
              <a:rPr lang="en-GB" sz="2800" b="1" dirty="0"/>
              <a:t>Discussion questions:</a:t>
            </a:r>
          </a:p>
          <a:p>
            <a:r>
              <a:rPr lang="en-GB" sz="2400" dirty="0"/>
              <a:t>To what extent do you agree with Mirowski's argument that a neoliberal state is one that uses strong actions to shape the economy?</a:t>
            </a:r>
          </a:p>
          <a:p>
            <a:r>
              <a:rPr lang="en-GB" sz="2400" dirty="0"/>
              <a:t>To what extent do you think economic policy-making is based on evidence?</a:t>
            </a:r>
          </a:p>
          <a:p>
            <a:r>
              <a:rPr lang="en-GB" sz="2400" dirty="0"/>
              <a:t>What types of evidence do you think are most influential in economic policy debates and what are the consequences of that?</a:t>
            </a:r>
          </a:p>
          <a:p>
            <a:r>
              <a:rPr lang="en-GB" sz="2400" dirty="0"/>
              <a:t>For question 3, it might be useful to think of a current or recent example from the news to illustrate your argument.</a:t>
            </a:r>
          </a:p>
        </p:txBody>
      </p:sp>
    </p:spTree>
    <p:extLst>
      <p:ext uri="{BB962C8B-B14F-4D97-AF65-F5344CB8AC3E}">
        <p14:creationId xmlns:p14="http://schemas.microsoft.com/office/powerpoint/2010/main" val="145969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39B17-D57C-967D-A67F-EB0A8BE293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DC459F-5755-22CA-D220-6C0F6171A397}"/>
              </a:ext>
            </a:extLst>
          </p:cNvPr>
          <p:cNvSpPr>
            <a:spLocks noGrp="1"/>
          </p:cNvSpPr>
          <p:nvPr>
            <p:ph type="title"/>
          </p:nvPr>
        </p:nvSpPr>
        <p:spPr/>
        <p:txBody>
          <a:bodyPr/>
          <a:lstStyle/>
          <a:p>
            <a:r>
              <a:rPr lang="en-US" dirty="0"/>
              <a:t>Wrap-up</a:t>
            </a:r>
          </a:p>
        </p:txBody>
      </p:sp>
      <p:sp>
        <p:nvSpPr>
          <p:cNvPr id="3" name="Content Placeholder 2">
            <a:extLst>
              <a:ext uri="{FF2B5EF4-FFF2-40B4-BE49-F238E27FC236}">
                <a16:creationId xmlns:a16="http://schemas.microsoft.com/office/drawing/2014/main" id="{B3A2C6BC-DC49-560F-7846-6F139E65E0B8}"/>
              </a:ext>
            </a:extLst>
          </p:cNvPr>
          <p:cNvSpPr>
            <a:spLocks noGrp="1"/>
          </p:cNvSpPr>
          <p:nvPr>
            <p:ph idx="1"/>
          </p:nvPr>
        </p:nvSpPr>
        <p:spPr>
          <a:xfrm>
            <a:off x="521208" y="2082800"/>
            <a:ext cx="11155680" cy="4263136"/>
          </a:xfrm>
        </p:spPr>
        <p:txBody>
          <a:bodyPr>
            <a:normAutofit/>
          </a:bodyPr>
          <a:lstStyle/>
          <a:p>
            <a:pPr lvl="0"/>
            <a:r>
              <a:rPr lang="en-US" sz="2400" dirty="0">
                <a:solidFill>
                  <a:schemeClr val="tx1">
                    <a:lumMod val="50000"/>
                    <a:lumOff val="50000"/>
                  </a:schemeClr>
                </a:solidFill>
              </a:rPr>
              <a:t>(Lukas) </a:t>
            </a:r>
            <a:r>
              <a:rPr lang="en-US" sz="2400" dirty="0"/>
              <a:t>Your job in this course: make claims precise, interrogate evidence, and argue transparently.</a:t>
            </a:r>
          </a:p>
          <a:p>
            <a:pPr lvl="0"/>
            <a:r>
              <a:rPr lang="en-GB" sz="2400" dirty="0"/>
              <a:t>Understanding “</a:t>
            </a:r>
            <a:r>
              <a:rPr lang="en-GB" sz="2400" i="1" dirty="0">
                <a:solidFill>
                  <a:srgbClr val="FF0000"/>
                </a:solidFill>
              </a:rPr>
              <a:t>capitalism</a:t>
            </a:r>
            <a:r>
              <a:rPr lang="en-GB" sz="2400" dirty="0"/>
              <a:t>” and “</a:t>
            </a:r>
            <a:r>
              <a:rPr lang="en-GB" sz="2400" i="1" dirty="0">
                <a:solidFill>
                  <a:srgbClr val="FF0000"/>
                </a:solidFill>
              </a:rPr>
              <a:t>neoliberalism</a:t>
            </a:r>
            <a:r>
              <a:rPr lang="en-GB" sz="2400" dirty="0"/>
              <a:t>”</a:t>
            </a:r>
          </a:p>
          <a:p>
            <a:pPr marL="457200" lvl="1" indent="0">
              <a:buNone/>
            </a:pPr>
            <a:endParaRPr lang="en-US" sz="2400" dirty="0"/>
          </a:p>
        </p:txBody>
      </p:sp>
    </p:spTree>
    <p:extLst>
      <p:ext uri="{BB962C8B-B14F-4D97-AF65-F5344CB8AC3E}">
        <p14:creationId xmlns:p14="http://schemas.microsoft.com/office/powerpoint/2010/main" val="2868669238"/>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1442</TotalTime>
  <Words>620</Words>
  <Application>Microsoft Macintosh PowerPoint</Application>
  <PresentationFormat>Widescreen</PresentationFormat>
  <Paragraphs>49</Paragraphs>
  <Slides>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Bierstadt</vt:lpstr>
      <vt:lpstr>Bradley Hand</vt:lpstr>
      <vt:lpstr>GestaltVTI</vt:lpstr>
      <vt:lpstr>https://github.com/RhodaJiang/Evidence-Economy-and-Social-Policy-2025-2026-SEM2-</vt:lpstr>
      <vt:lpstr>Recap (~10min)</vt:lpstr>
      <vt:lpstr>Activity(35-40min) </vt:lpstr>
      <vt:lpstr>Wrap-up</vt:lpstr>
      <vt:lpstr>https://github.com/RhodaJiang/Evidence-Economy-and-Social-Policy-2025-2026-SEM2-</vt:lpstr>
      <vt:lpstr>Icebreaker Activity: Name &amp; Favourite Thing (8-10min)</vt:lpstr>
      <vt:lpstr>Recap (10min)</vt:lpstr>
      <vt:lpstr>Activity (20-25min)</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Rhoda Jiang</dc:creator>
  <cp:lastModifiedBy>Rhoda Jiang</cp:lastModifiedBy>
  <cp:revision>12</cp:revision>
  <dcterms:created xsi:type="dcterms:W3CDTF">2025-09-20T14:48:19Z</dcterms:created>
  <dcterms:modified xsi:type="dcterms:W3CDTF">2026-01-29T20:15:06Z</dcterms:modified>
</cp:coreProperties>
</file>