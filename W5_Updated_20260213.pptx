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2"/>
  </p:notesMasterIdLst>
  <p:sldIdLst>
    <p:sldId id="276" r:id="rId2"/>
    <p:sldId id="279" r:id="rId3"/>
    <p:sldId id="280" r:id="rId4"/>
    <p:sldId id="281" r:id="rId5"/>
    <p:sldId id="282" r:id="rId6"/>
    <p:sldId id="270" r:id="rId7"/>
    <p:sldId id="271" r:id="rId8"/>
    <p:sldId id="275" r:id="rId9"/>
    <p:sldId id="274" r:id="rId10"/>
    <p:sldId id="272" r:id="rId11"/>
    <p:sldId id="273" r:id="rId12"/>
    <p:sldId id="256" r:id="rId13"/>
    <p:sldId id="269" r:id="rId14"/>
    <p:sldId id="267" r:id="rId15"/>
    <p:sldId id="268" r:id="rId16"/>
    <p:sldId id="266" r:id="rId17"/>
    <p:sldId id="258" r:id="rId18"/>
    <p:sldId id="265" r:id="rId19"/>
    <p:sldId id="260" r:id="rId20"/>
    <p:sldId id="2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49"/>
    <p:restoredTop sz="90061"/>
  </p:normalViewPr>
  <p:slideViewPr>
    <p:cSldViewPr snapToGrid="0">
      <p:cViewPr varScale="1">
        <p:scale>
          <a:sx n="99" d="100"/>
          <a:sy n="99" d="100"/>
        </p:scale>
        <p:origin x="192"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2/13/26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9735-82F0-B08E-C0DA-389F0B52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8B5-462B-AC35-A0FF-027A173E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659F-C273-117F-2A28-E770B38EB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5D63E-AC4D-A525-F6AE-8472A261943C}"/>
              </a:ext>
            </a:extLst>
          </p:cNvPr>
          <p:cNvSpPr>
            <a:spLocks noGrp="1"/>
          </p:cNvSpPr>
          <p:nvPr>
            <p:ph type="sldNum" sz="quarter" idx="5"/>
          </p:nvPr>
        </p:nvSpPr>
        <p:spPr/>
        <p:txBody>
          <a:bodyPr/>
          <a:lstStyle/>
          <a:p>
            <a:fld id="{33A4955F-0A3A-8646-A0A1-4EB5E93277E6}" type="slidenum">
              <a:rPr lang="en-US" smtClean="0"/>
              <a:t>3</a:t>
            </a:fld>
            <a:endParaRPr lang="en-US"/>
          </a:p>
        </p:txBody>
      </p:sp>
    </p:spTree>
    <p:extLst>
      <p:ext uri="{BB962C8B-B14F-4D97-AF65-F5344CB8AC3E}">
        <p14:creationId xmlns:p14="http://schemas.microsoft.com/office/powerpoint/2010/main" val="332240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203E-42EB-B2D4-632F-D1C496D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5337E-AFC8-325E-B4E6-4212EF7F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D1347-45E2-0760-B13E-F4C88E8A6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320F4-E0D4-DC80-AE8C-B7A6F04FCFB0}"/>
              </a:ext>
            </a:extLst>
          </p:cNvPr>
          <p:cNvSpPr>
            <a:spLocks noGrp="1"/>
          </p:cNvSpPr>
          <p:nvPr>
            <p:ph type="sldNum" sz="quarter" idx="5"/>
          </p:nvPr>
        </p:nvSpPr>
        <p:spPr/>
        <p:txBody>
          <a:bodyPr/>
          <a:lstStyle/>
          <a:p>
            <a:fld id="{33A4955F-0A3A-8646-A0A1-4EB5E93277E6}" type="slidenum">
              <a:rPr lang="en-US" smtClean="0"/>
              <a:t>4</a:t>
            </a:fld>
            <a:endParaRPr lang="en-US"/>
          </a:p>
        </p:txBody>
      </p:sp>
    </p:spTree>
    <p:extLst>
      <p:ext uri="{BB962C8B-B14F-4D97-AF65-F5344CB8AC3E}">
        <p14:creationId xmlns:p14="http://schemas.microsoft.com/office/powerpoint/2010/main" val="3421583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9AE6-A3EE-C677-030A-55A5DED5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E8F7C-B37E-607A-0B68-A736384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526C-FBF6-CD8E-0B94-6150796F1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11045-FDD2-C2B2-303B-68DE0D551B14}"/>
              </a:ext>
            </a:extLst>
          </p:cNvPr>
          <p:cNvSpPr>
            <a:spLocks noGrp="1"/>
          </p:cNvSpPr>
          <p:nvPr>
            <p:ph type="sldNum" sz="quarter" idx="5"/>
          </p:nvPr>
        </p:nvSpPr>
        <p:spPr/>
        <p:txBody>
          <a:bodyPr/>
          <a:lstStyle/>
          <a:p>
            <a:fld id="{33A4955F-0A3A-8646-A0A1-4EB5E93277E6}" type="slidenum">
              <a:rPr lang="en-US" smtClean="0"/>
              <a:t>5</a:t>
            </a:fld>
            <a:endParaRPr lang="en-US"/>
          </a:p>
        </p:txBody>
      </p:sp>
    </p:spTree>
    <p:extLst>
      <p:ext uri="{BB962C8B-B14F-4D97-AF65-F5344CB8AC3E}">
        <p14:creationId xmlns:p14="http://schemas.microsoft.com/office/powerpoint/2010/main" val="2343773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10</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11</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15</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20</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2/13/26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2/13/26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AE4-CABA-6118-878C-69CE80B34985}"/>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F2BE4302-C701-2C0B-3357-7079D56E1316}"/>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F0F246-67BB-8E68-449E-8814E13A1ADD}"/>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83B6E0EF-666A-BCE7-61B0-16F44511316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85E5398D-F5BA-212D-F4E9-807EAF4A2A1E}"/>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027ACEF-F1B5-961B-1AFE-F4F4064354C8}"/>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3628036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80746-006F-728E-6041-B591C5774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E3D5A-75F4-E663-7CCF-5BE203B7B866}"/>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966BB603-388B-953B-FA76-6F773875C8D5}"/>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Principles of insurance: Social insurance vs private insurance</a:t>
            </a:r>
          </a:p>
          <a:p>
            <a:pPr lvl="2"/>
            <a:r>
              <a:rPr lang="en-US" sz="2000" dirty="0"/>
              <a:t>Lecture 2 - Public goods provision and subsidies</a:t>
            </a:r>
          </a:p>
          <a:p>
            <a:pPr lvl="1"/>
            <a:r>
              <a:rPr lang="en-US" sz="2600" dirty="0"/>
              <a:t>What points stood out?</a:t>
            </a:r>
          </a:p>
        </p:txBody>
      </p:sp>
    </p:spTree>
    <p:extLst>
      <p:ext uri="{BB962C8B-B14F-4D97-AF65-F5344CB8AC3E}">
        <p14:creationId xmlns:p14="http://schemas.microsoft.com/office/powerpoint/2010/main" val="1133245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F513-DD70-FAF4-D7EF-217310407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D802-D87D-F7EE-5A0E-7F638EC165A0}"/>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79F34FDF-48E9-1E15-9431-B8E50343118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Why are some risks insured socially while others are left to markets?</a:t>
            </a:r>
          </a:p>
          <a:p>
            <a:r>
              <a:rPr lang="en-GB" dirty="0"/>
              <a:t>In what ways does social insurance blur the boundary between insurance and redistribution? Why does this matter politically?</a:t>
            </a:r>
          </a:p>
          <a:p>
            <a:r>
              <a:rPr lang="en-GB" dirty="0"/>
              <a:t>When should governments prefer direct public provision over subsidies to private providers?</a:t>
            </a:r>
          </a:p>
          <a:p>
            <a:r>
              <a:rPr lang="en-GB" dirty="0"/>
              <a:t>Why do governments directly provide services like healthcare or education rather than relying only on subsidies?</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313860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DB61-9FA6-5B68-1335-2F6C7F5B9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01945-59B1-1DF2-4C12-35703D03FE38}"/>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5A047F39-085C-0942-4E5C-568CF153EB69}"/>
              </a:ext>
            </a:extLst>
          </p:cNvPr>
          <p:cNvSpPr txBox="1"/>
          <p:nvPr/>
        </p:nvSpPr>
        <p:spPr>
          <a:xfrm>
            <a:off x="643943" y="2072116"/>
            <a:ext cx="8464639" cy="8887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Pay attention to the key concepts that emerged in the lectures.</a:t>
            </a:r>
          </a:p>
          <a:p>
            <a:pPr marL="285750" indent="-285750">
              <a:lnSpc>
                <a:spcPct val="150000"/>
              </a:lnSpc>
              <a:buFont typeface="Arial" panose="020B0604020202020204" pitchFamily="34" charset="0"/>
              <a:buChar char="•"/>
            </a:pPr>
            <a:r>
              <a:rPr lang="en-GB" dirty="0"/>
              <a:t>A perpetual tug-of-war between state rules and market responses.</a:t>
            </a:r>
            <a:endParaRPr lang="en-US" dirty="0"/>
          </a:p>
        </p:txBody>
      </p:sp>
    </p:spTree>
    <p:extLst>
      <p:ext uri="{BB962C8B-B14F-4D97-AF65-F5344CB8AC3E}">
        <p14:creationId xmlns:p14="http://schemas.microsoft.com/office/powerpoint/2010/main" val="42123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1BA6-6304-43E1-8B00-45E33EAD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0198E-F877-B2E1-C9CE-7113E94CCED1}"/>
              </a:ext>
            </a:extLst>
          </p:cNvPr>
          <p:cNvSpPr>
            <a:spLocks noGrp="1"/>
          </p:cNvSpPr>
          <p:nvPr>
            <p:ph type="title"/>
          </p:nvPr>
        </p:nvSpPr>
        <p:spPr/>
        <p:txBody>
          <a:bodyPr/>
          <a:lstStyle/>
          <a:p>
            <a:r>
              <a:rPr lang="en-US" dirty="0"/>
              <a:t>Wrap-up</a:t>
            </a:r>
          </a:p>
        </p:txBody>
      </p:sp>
      <p:pic>
        <p:nvPicPr>
          <p:cNvPr id="5" name="Picture 4" descr="A diagram of a country&#10;&#10;AI-generated content may be incorrect.">
            <a:extLst>
              <a:ext uri="{FF2B5EF4-FFF2-40B4-BE49-F238E27FC236}">
                <a16:creationId xmlns:a16="http://schemas.microsoft.com/office/drawing/2014/main" id="{C9FEF61C-067E-3BAE-9607-56C10F23F732}"/>
              </a:ext>
            </a:extLst>
          </p:cNvPr>
          <p:cNvPicPr>
            <a:picLocks noChangeAspect="1"/>
          </p:cNvPicPr>
          <p:nvPr/>
        </p:nvPicPr>
        <p:blipFill>
          <a:blip r:embed="rId3"/>
          <a:stretch>
            <a:fillRect/>
          </a:stretch>
        </p:blipFill>
        <p:spPr>
          <a:xfrm>
            <a:off x="6401923" y="1843279"/>
            <a:ext cx="520750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descr="A screenshot of a website&#10;&#10;AI-generated content may be incorrect.">
            <a:extLst>
              <a:ext uri="{FF2B5EF4-FFF2-40B4-BE49-F238E27FC236}">
                <a16:creationId xmlns:a16="http://schemas.microsoft.com/office/drawing/2014/main" id="{1987C6BC-A545-6EF0-65EB-D171EF5AE073}"/>
              </a:ext>
            </a:extLst>
          </p:cNvPr>
          <p:cNvPicPr>
            <a:picLocks noChangeAspect="1"/>
          </p:cNvPicPr>
          <p:nvPr/>
        </p:nvPicPr>
        <p:blipFill>
          <a:blip r:embed="rId4"/>
          <a:stretch>
            <a:fillRect/>
          </a:stretch>
        </p:blipFill>
        <p:spPr>
          <a:xfrm>
            <a:off x="515112" y="1843278"/>
            <a:ext cx="546105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65F1CE10-FF09-6E8C-AAC9-310D0E59589C}"/>
              </a:ext>
            </a:extLst>
          </p:cNvPr>
          <p:cNvSpPr txBox="1"/>
          <p:nvPr/>
        </p:nvSpPr>
        <p:spPr>
          <a:xfrm>
            <a:off x="357439" y="5530231"/>
            <a:ext cx="6096000" cy="923330"/>
          </a:xfrm>
          <a:prstGeom prst="rect">
            <a:avLst/>
          </a:prstGeom>
          <a:noFill/>
        </p:spPr>
        <p:txBody>
          <a:bodyPr wrap="square">
            <a:spAutoFit/>
          </a:bodyPr>
          <a:lstStyle/>
          <a:p>
            <a:r>
              <a:rPr lang="en-US" dirty="0"/>
              <a:t>Source: https://</a:t>
            </a:r>
            <a:r>
              <a:rPr lang="en-US" dirty="0" err="1"/>
              <a:t>www.gov.uk</a:t>
            </a:r>
            <a:r>
              <a:rPr lang="en-US" dirty="0"/>
              <a:t>/government/news/record-breaking-150bn-investment-unveiled-during-us-state-visit?utm_source=</a:t>
            </a:r>
            <a:r>
              <a:rPr lang="en-US" dirty="0" err="1"/>
              <a:t>chatgpt.com</a:t>
            </a:r>
            <a:endParaRPr lang="en-US" dirty="0"/>
          </a:p>
        </p:txBody>
      </p:sp>
    </p:spTree>
    <p:extLst>
      <p:ext uri="{BB962C8B-B14F-4D97-AF65-F5344CB8AC3E}">
        <p14:creationId xmlns:p14="http://schemas.microsoft.com/office/powerpoint/2010/main" val="118299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US" sz="2000" dirty="0">
                <a:solidFill>
                  <a:schemeClr val="tx1">
                    <a:lumMod val="50000"/>
                    <a:lumOff val="50000"/>
                  </a:schemeClr>
                </a:solidFill>
              </a:rPr>
              <a:t>(Lukas) </a:t>
            </a:r>
            <a:r>
              <a:rPr lang="en-US" sz="2000" dirty="0"/>
              <a:t>Your job in this course: make claims precise, interrogate evidence, and argue transparently.</a:t>
            </a:r>
          </a:p>
          <a:p>
            <a:pPr lvl="0"/>
            <a:r>
              <a:rPr lang="en-GB" sz="2000" dirty="0"/>
              <a:t>Understanding “</a:t>
            </a:r>
            <a:r>
              <a:rPr lang="en-GB" sz="2000" i="1" dirty="0">
                <a:solidFill>
                  <a:srgbClr val="FF0000"/>
                </a:solidFill>
              </a:rPr>
              <a:t>market-correcting</a:t>
            </a:r>
            <a:r>
              <a:rPr lang="en-GB" sz="2000" dirty="0"/>
              <a:t>” and “</a:t>
            </a:r>
            <a:r>
              <a:rPr lang="en-GB" sz="2000" i="1" dirty="0">
                <a:solidFill>
                  <a:srgbClr val="FF0000"/>
                </a:solidFill>
              </a:rPr>
              <a:t>market-distorting</a:t>
            </a:r>
            <a:r>
              <a:rPr lang="en-GB" sz="2000" dirty="0"/>
              <a:t>”</a:t>
            </a:r>
          </a:p>
        </p:txBody>
      </p:sp>
    </p:spTree>
    <p:extLst>
      <p:ext uri="{BB962C8B-B14F-4D97-AF65-F5344CB8AC3E}">
        <p14:creationId xmlns:p14="http://schemas.microsoft.com/office/powerpoint/2010/main" val="2038284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1752</TotalTime>
  <Words>1231</Words>
  <Application>Microsoft Macintosh PowerPoint</Application>
  <PresentationFormat>Widescreen</PresentationFormat>
  <Paragraphs>109</Paragraphs>
  <Slides>20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Bierstadt</vt:lpstr>
      <vt:lpstr>Bradley Hand</vt:lpstr>
      <vt:lpstr>GestaltVTI</vt:lpstr>
      <vt:lpstr>https://github.com/RhodaJiang/Evidence-Economy-and-Social-Policy-2025-2026-SEM2-</vt:lpstr>
      <vt:lpstr>Recap (10-15min)</vt:lpstr>
      <vt:lpstr>Activity(35-40min) </vt:lpstr>
      <vt:lpstr>Wrap-up</vt:lpstr>
      <vt:lpstr>Wrap-up</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19</cp:revision>
  <dcterms:created xsi:type="dcterms:W3CDTF">2025-09-20T14:48:19Z</dcterms:created>
  <dcterms:modified xsi:type="dcterms:W3CDTF">2026-02-13T08:04:38Z</dcterms:modified>
</cp:coreProperties>
</file>